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C88F9B5-8E92-34DC-E76E-16224037042A}">
          <p14:sldIdLst>
            <p14:sldId id="256"/>
          </p14:sldIdLst>
        </p14:section>
        <p14:section name="Lot A" id="{FC634F96-E48D-F243-3DFD-736EF6988AB5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Lot B" id="{8300D43F-F3D5-EFC8-064C-0D610D09D28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lôture" id="{46FDD262-F484-B144-A9B7-3CBC09C4BA63}">
          <p14:sldIdLst>
            <p14:sldId id="275"/>
            <p14:sldId id="276"/>
          </p14:sldIdLst>
        </p14:section>
        <p14:section name="Réserve" id="{4C92B449-2B13-2C24-4B0B-89E8C7F2DE6C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6E64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5E6E64"/>
                </a:solidFill>
                <a:latin typeface="+mn-lt"/>
              </a:rPr>
              <a:t>Images par classe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E4A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F1-4C7A-AE44-5A499BFD06BB}"/>
              </c:ext>
            </c:extLst>
          </c:dPt>
          <c:dPt>
            <c:idx val="1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F1-4C7A-AE44-5A499BFD06BB}"/>
              </c:ext>
            </c:extLst>
          </c:dPt>
          <c:dPt>
            <c:idx val="2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F1-4C7A-AE44-5A499BFD06BB}"/>
              </c:ext>
            </c:extLst>
          </c:dPt>
          <c:dPt>
            <c:idx val="3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F1-4C7A-AE44-5A499BFD06BB}"/>
              </c:ext>
            </c:extLst>
          </c:dPt>
          <c:dPt>
            <c:idx val="4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F1-4C7A-AE44-5A499BFD06BB}"/>
              </c:ext>
            </c:extLst>
          </c:dPt>
          <c:dPt>
            <c:idx val="5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FF1-4C7A-AE44-5A499BFD06BB}"/>
              </c:ext>
            </c:extLst>
          </c:dPt>
          <c:dPt>
            <c:idx val="6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FF1-4C7A-AE44-5A499BFD06BB}"/>
              </c:ext>
            </c:extLst>
          </c:dPt>
          <c:dPt>
            <c:idx val="7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FF1-4C7A-AE44-5A499BFD06BB}"/>
              </c:ext>
            </c:extLst>
          </c:dPt>
          <c:dPt>
            <c:idx val="8"/>
            <c:invertIfNegative val="0"/>
            <c:bubble3D val="0"/>
            <c:spPr>
              <a:solidFill>
                <a:srgbClr val="9AA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FF1-4C7A-AE44-5A499BFD06BB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FF1-4C7A-AE44-5A499BFD06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21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Tomate · Tache bact.</c:v>
                </c:pt>
                <c:pt idx="1">
                  <c:v>Tomate · Mildiou tardif</c:v>
                </c:pt>
                <c:pt idx="2">
                  <c:v>Tomate · Septoriose</c:v>
                </c:pt>
                <c:pt idx="3">
                  <c:v>Tomate · Saine</c:v>
                </c:pt>
                <c:pt idx="4">
                  <c:v>Poivron · Sain</c:v>
                </c:pt>
                <c:pt idx="5">
                  <c:v>Maïs · Rouille</c:v>
                </c:pt>
                <c:pt idx="6">
                  <c:v>Maïs · Sain</c:v>
                </c:pt>
                <c:pt idx="7">
                  <c:v>Poivron · Tache bact.</c:v>
                </c:pt>
                <c:pt idx="8">
                  <c:v>Maïs · Helminthosporiose</c:v>
                </c:pt>
                <c:pt idx="9">
                  <c:v>Maïs · Cercosporiose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2127</c:v>
                </c:pt>
                <c:pt idx="1">
                  <c:v>1909</c:v>
                </c:pt>
                <c:pt idx="2">
                  <c:v>1771</c:v>
                </c:pt>
                <c:pt idx="3">
                  <c:v>1591</c:v>
                </c:pt>
                <c:pt idx="4">
                  <c:v>1478</c:v>
                </c:pt>
                <c:pt idx="5">
                  <c:v>1192</c:v>
                </c:pt>
                <c:pt idx="6">
                  <c:v>1162</c:v>
                </c:pt>
                <c:pt idx="7">
                  <c:v>997</c:v>
                </c:pt>
                <c:pt idx="8">
                  <c:v>985</c:v>
                </c:pt>
                <c:pt idx="9">
                  <c:v>513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EFF1-4C7A-AE44-5A499BFD06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6E64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5E6E64"/>
                </a:solidFill>
                <a:latin typeface="+mn-lt"/>
              </a:rPr>
              <a:t>F1 par classe, jeu de test studio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9AA59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FC0-4ED5-A6D9-1DD97C4160F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FC0-4ED5-A6D9-1DD97C4160F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FC0-4ED5-A6D9-1DD97C4160F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FC0-4ED5-A6D9-1DD97C4160F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FC0-4ED5-A6D9-1DD97C4160F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FC0-4ED5-A6D9-1DD97C4160F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DFC0-4ED5-A6D9-1DD97C4160F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FC0-4ED5-A6D9-1DD97C4160FE}"/>
              </c:ext>
            </c:extLst>
          </c:dPt>
          <c:dPt>
            <c:idx val="8"/>
            <c:invertIfNegative val="0"/>
            <c:bubble3D val="0"/>
            <c:spPr>
              <a:solidFill>
                <a:srgbClr val="D99A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FC0-4ED5-A6D9-1DD97C4160FE}"/>
              </c:ext>
            </c:extLst>
          </c:dPt>
          <c:dPt>
            <c:idx val="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FC0-4ED5-A6D9-1DD97C4160FE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A21"/>
                    </a:solidFill>
                    <a:latin typeface="+mn-lt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Maïs · Rouille</c:v>
                </c:pt>
                <c:pt idx="1">
                  <c:v>Maïs · Sain</c:v>
                </c:pt>
                <c:pt idx="2">
                  <c:v>Poivron · Sain</c:v>
                </c:pt>
                <c:pt idx="3">
                  <c:v>Tomate · Saine</c:v>
                </c:pt>
                <c:pt idx="4">
                  <c:v>Poivron · Tache bact.</c:v>
                </c:pt>
                <c:pt idx="5">
                  <c:v>Tomate · Tache bact.</c:v>
                </c:pt>
                <c:pt idx="6">
                  <c:v>Tomate · Mildiou</c:v>
                </c:pt>
                <c:pt idx="7">
                  <c:v>Tomate · Septoriose</c:v>
                </c:pt>
                <c:pt idx="8">
                  <c:v>Maïs · Helmintho.</c:v>
                </c:pt>
                <c:pt idx="9">
                  <c:v>Maïs · Cercosporiose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0.997</c:v>
                </c:pt>
                <c:pt idx="1">
                  <c:v>0.997</c:v>
                </c:pt>
                <c:pt idx="2">
                  <c:v>0.98899999999999999</c:v>
                </c:pt>
                <c:pt idx="3">
                  <c:v>0.98599999999999999</c:v>
                </c:pt>
                <c:pt idx="4">
                  <c:v>0.98</c:v>
                </c:pt>
                <c:pt idx="5">
                  <c:v>0.97199999999999998</c:v>
                </c:pt>
                <c:pt idx="6">
                  <c:v>0.96499999999999997</c:v>
                </c:pt>
                <c:pt idx="7">
                  <c:v>0.95699999999999996</c:v>
                </c:pt>
                <c:pt idx="8">
                  <c:v>0.89900000000000002</c:v>
                </c:pt>
                <c:pt idx="9">
                  <c:v>0.82499999999999996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DFC0-4ED5-A6D9-1DD97C4160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t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E6E64"/>
                </a:solidFill>
                <a:latin typeface="+mn-lt"/>
              </a:defRPr>
            </a:pPr>
            <a:r>
              <a:rPr lang="fr-FR" sz="1300" b="0" i="0" u="none" strike="noStrike">
                <a:solidFill>
                  <a:srgbClr val="5E6E64"/>
                </a:solidFill>
                <a:latin typeface="+mn-lt"/>
              </a:rPr>
              <a:t>F1 par classe sur les 942 photos de terrain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 (studio seul)</c:v>
                </c:pt>
              </c:strCache>
            </c:strRef>
          </c:tx>
          <c:spPr>
            <a:solidFill>
              <a:srgbClr val="9AA59F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Tomate · Saine</c:v>
                </c:pt>
                <c:pt idx="1">
                  <c:v>Tomate · Mildiou</c:v>
                </c:pt>
                <c:pt idx="2">
                  <c:v>Tomate · Tache bact.</c:v>
                </c:pt>
                <c:pt idx="3">
                  <c:v>Tomate · Septoriose</c:v>
                </c:pt>
                <c:pt idx="4">
                  <c:v>Maïs · Rouille</c:v>
                </c:pt>
                <c:pt idx="5">
                  <c:v>Maïs · Helmintho.</c:v>
                </c:pt>
                <c:pt idx="6">
                  <c:v>Maïs · Cercospo.</c:v>
                </c:pt>
                <c:pt idx="7">
                  <c:v>Poivron · Sain</c:v>
                </c:pt>
                <c:pt idx="8">
                  <c:v>Poivron · Tache bact.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0.06</c:v>
                </c:pt>
                <c:pt idx="1">
                  <c:v>0.50600000000000001</c:v>
                </c:pt>
                <c:pt idx="2">
                  <c:v>4.3999999999999997E-2</c:v>
                </c:pt>
                <c:pt idx="3">
                  <c:v>0.47099999999999997</c:v>
                </c:pt>
                <c:pt idx="4">
                  <c:v>0.24099999999999999</c:v>
                </c:pt>
                <c:pt idx="5">
                  <c:v>0.432</c:v>
                </c:pt>
                <c:pt idx="6">
                  <c:v>0.36099999999999999</c:v>
                </c:pt>
                <c:pt idx="7">
                  <c:v>0.21099999999999999</c:v>
                </c:pt>
                <c:pt idx="8">
                  <c:v>0.34499999999999997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76-44A8-95AC-BA95ED4452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(studio + terrain)</c:v>
                </c:pt>
              </c:strCache>
            </c:strRef>
          </c:tx>
          <c:spPr>
            <a:solidFill>
              <a:srgbClr val="2F7D4F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Tomate · Saine</c:v>
                </c:pt>
                <c:pt idx="1">
                  <c:v>Tomate · Mildiou</c:v>
                </c:pt>
                <c:pt idx="2">
                  <c:v>Tomate · Tache bact.</c:v>
                </c:pt>
                <c:pt idx="3">
                  <c:v>Tomate · Septoriose</c:v>
                </c:pt>
                <c:pt idx="4">
                  <c:v>Maïs · Rouille</c:v>
                </c:pt>
                <c:pt idx="5">
                  <c:v>Maïs · Helmintho.</c:v>
                </c:pt>
                <c:pt idx="6">
                  <c:v>Maïs · Cercospo.</c:v>
                </c:pt>
                <c:pt idx="7">
                  <c:v>Poivron · Sain</c:v>
                </c:pt>
                <c:pt idx="8">
                  <c:v>Poivron · Tache bact.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0.59099999999999997</c:v>
                </c:pt>
                <c:pt idx="1">
                  <c:v>0.69099999999999995</c:v>
                </c:pt>
                <c:pt idx="2">
                  <c:v>0.245</c:v>
                </c:pt>
                <c:pt idx="3">
                  <c:v>0.40300000000000002</c:v>
                </c:pt>
                <c:pt idx="4">
                  <c:v>0.60699999999999998</c:v>
                </c:pt>
                <c:pt idx="5">
                  <c:v>0.52200000000000002</c:v>
                </c:pt>
                <c:pt idx="6">
                  <c:v>0.44</c:v>
                </c:pt>
                <c:pt idx="7">
                  <c:v>0.56399999999999995</c:v>
                </c:pt>
                <c:pt idx="8">
                  <c:v>0.45700000000000002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76-44A8-95AC-BA95ED4452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3E8E4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E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A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58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5760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b="1" kern="0" spc="3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6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AgriVision-AI  ·  Soutenance INGC2  ·  ESMT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822960"/>
            <a:ext cx="10058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kern="0" spc="4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132320" y="228600"/>
            <a:ext cx="3840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265176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chart" Target="../charts/chart1.xml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474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b="1" kern="0" spc="300" dirty="0">
                <a:solidFill>
                  <a:schemeClr val="accent2"/>
                </a:solidFill>
              </a:rPr>
              <a:t>PROJET ACADÉMIQUE  ·  INGC2  · INDIA ·  ESMT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916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AgriVision-AI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Diagnostiquer une maladie des cultures à partir d'une simple photo de feuille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69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Cheick Oumar Doumbia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Lot A  ·  données et service d'inférence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846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Faustin Félicien Pikbougoum</a:t>
            </a:r>
            <a:endParaRPr lang="en-US" sz="17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Lot B  ·  modèle, évaluation et application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Encadrant : Prof. Boudal NIANG</a:t>
            </a:r>
          </a:p>
        </p:txBody>
      </p:sp>
      <p:pic>
        <p:nvPicPr>
          <p:cNvPr id="8" name="photo studio_mildiou" descr="studio mildio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05840"/>
            <a:ext cx="2103120" cy="2103120"/>
          </a:xfrm>
          <a:prstGeom prst="rect">
            <a:avLst/>
          </a:prstGeom>
        </p:spPr>
      </p:pic>
      <p:pic>
        <p:nvPicPr>
          <p:cNvPr id="9" name="photo studio_mais_rouille" descr="studio mais rouil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005840"/>
            <a:ext cx="2103120" cy="2103120"/>
          </a:xfrm>
          <a:prstGeom prst="rect">
            <a:avLst/>
          </a:prstGeom>
        </p:spPr>
      </p:pic>
      <p:pic>
        <p:nvPicPr>
          <p:cNvPr id="10" name="photo studio_poivron_tache" descr="studio poivron tach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291840"/>
            <a:ext cx="2103120" cy="2103120"/>
          </a:xfrm>
          <a:prstGeom prst="rect">
            <a:avLst/>
          </a:prstGeom>
        </p:spPr>
      </p:pic>
      <p:pic>
        <p:nvPicPr>
          <p:cNvPr id="11" name="photo terrain_mildiou_2" descr="terrain mildiou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291840"/>
            <a:ext cx="2103120" cy="21031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Tomate, maïs, poivron  ·  10 classes  ·  studio et terrain</a:t>
            </a:r>
            <a:endParaRPr lang="en-US" sz="12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5DDA844C-053B-BD74-897A-EE28DD640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87538"/>
            <a:ext cx="5486400" cy="12857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CONTEXTE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Le diagnostic arrive tard, le téléphone est déjà là</a:t>
            </a:r>
            <a:endParaRPr lang="en-US" sz="3000" dirty="0"/>
          </a:p>
        </p:txBody>
      </p:sp>
      <p:pic>
        <p:nvPicPr>
          <p:cNvPr id="5" name="photo terrain_mildiou_2" descr="feuille de tomate atteinte de mildiou, au cha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402336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35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Mildiou tardif sur un plant de tomate, photographié au champ (PlantDoc)</a:t>
            </a:r>
            <a:endParaRPr lang="en-US" sz="1100" dirty="0"/>
          </a:p>
        </p:txBody>
      </p:sp>
      <p:sp>
        <p:nvSpPr>
          <p:cNvPr id="7" name="contexte 1"/>
          <p:cNvSpPr/>
          <p:nvPr/>
        </p:nvSpPr>
        <p:spPr>
          <a:xfrm>
            <a:off x="4983480" y="1920240"/>
            <a:ext cx="662940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pastille 1"/>
          <p:cNvSpPr/>
          <p:nvPr/>
        </p:nvSpPr>
        <p:spPr>
          <a:xfrm>
            <a:off x="5212080" y="21214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21208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06440" y="21214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LE PROBLÈME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24231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Sans diagnostic précoce des maladies des feuilles, les pertes s'accumulent. Un conseiller agricole n'est pas toujours accessible rapidement.</a:t>
            </a:r>
            <a:endParaRPr lang="en-US" sz="1500" dirty="0"/>
          </a:p>
        </p:txBody>
      </p:sp>
      <p:sp>
        <p:nvSpPr>
          <p:cNvPr id="12" name="contexte 2"/>
          <p:cNvSpPr/>
          <p:nvPr/>
        </p:nvSpPr>
        <p:spPr>
          <a:xfrm>
            <a:off x="4983480" y="3291840"/>
            <a:ext cx="662940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pastille 2"/>
          <p:cNvSpPr/>
          <p:nvPr/>
        </p:nvSpPr>
        <p:spPr>
          <a:xfrm>
            <a:off x="5212080" y="34930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521208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3493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L'ATOUT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37947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 téléphone avec appareil photo est déjà présent dans une grande partie des exploitations : aucun équipement à acheter.</a:t>
            </a:r>
            <a:endParaRPr lang="en-US" sz="1500" dirty="0"/>
          </a:p>
        </p:txBody>
      </p:sp>
      <p:sp>
        <p:nvSpPr>
          <p:cNvPr id="17" name="contexte 3"/>
          <p:cNvSpPr/>
          <p:nvPr/>
        </p:nvSpPr>
        <p:spPr>
          <a:xfrm>
            <a:off x="4983480" y="4663440"/>
            <a:ext cx="6629400" cy="1207008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pastille 3"/>
          <p:cNvSpPr/>
          <p:nvPr/>
        </p:nvSpPr>
        <p:spPr>
          <a:xfrm>
            <a:off x="5212080" y="486460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 txBox="1"/>
          <p:nvPr/>
        </p:nvSpPr>
        <p:spPr>
          <a:xfrm>
            <a:off x="521208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806440" y="4864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LA LIMITE, POSÉE DÈS LE DÉPART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516636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 modèle attribue une maladie et un niveau de confiance. Il ne mesure pas la gravité et ne remplace pas un conseiller.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OBJECTIF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Une photo de feuille, quatre réponses</a:t>
            </a:r>
            <a:endParaRPr lang="en-US" sz="3000" dirty="0"/>
          </a:p>
        </p:txBody>
      </p:sp>
      <p:sp>
        <p:nvSpPr>
          <p:cNvPr id="5" name="pastille 1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 maladie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parmi 10 classes, sur 3 cultures</a:t>
            </a:r>
            <a:endParaRPr lang="en-US" sz="1700" dirty="0"/>
          </a:p>
        </p:txBody>
      </p:sp>
      <p:sp>
        <p:nvSpPr>
          <p:cNvPr id="8" name="pastille 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24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 niveau de confiance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et les 3 hypothèses principales</a:t>
            </a:r>
            <a:endParaRPr lang="en-US" sz="1700" dirty="0"/>
          </a:p>
        </p:txBody>
      </p:sp>
      <p:sp>
        <p:nvSpPr>
          <p:cNvPr id="11" name="pastille 3"/>
          <p:cNvSpPr/>
          <p:nvPr/>
        </p:nvSpPr>
        <p:spPr>
          <a:xfrm>
            <a:off x="548640" y="35753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486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2958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 zone qui a décidé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carte Grad-CAM sur la photo</a:t>
            </a:r>
            <a:endParaRPr lang="en-US" sz="1700" dirty="0"/>
          </a:p>
        </p:txBody>
      </p:sp>
      <p:sp>
        <p:nvSpPr>
          <p:cNvPr id="14" name="pastille 4"/>
          <p:cNvSpPr/>
          <p:nvPr/>
        </p:nvSpPr>
        <p:spPr>
          <a:xfrm>
            <a:off x="548640" y="437997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54864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334256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 conduite à tenir</a:t>
            </a:r>
            <a:endParaRPr lang="en-US" sz="17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une fiche de conseils par maladie</a:t>
            </a:r>
            <a:endParaRPr lang="en-US" sz="1700" dirty="0"/>
          </a:p>
        </p:txBody>
      </p:sp>
      <p:sp>
        <p:nvSpPr>
          <p:cNvPr id="17" name="question du projet"/>
          <p:cNvSpPr/>
          <p:nvPr/>
        </p:nvSpPr>
        <p:spPr>
          <a:xfrm>
            <a:off x="548640" y="5257800"/>
            <a:ext cx="49377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777240" y="53766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LA QUESTION DU PROJET</a:t>
            </a:r>
            <a:endParaRPr lang="en-US" sz="11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excellent score en laboratoire suffit-il au champ ?</a:t>
            </a:r>
            <a:endParaRPr lang="en-US" sz="1100" dirty="0"/>
          </a:p>
        </p:txBody>
      </p:sp>
      <p:pic>
        <p:nvPicPr>
          <p:cNvPr id="19" name="capture app_sur" descr="résultat de l'application : tomate saine à 96 %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20240"/>
            <a:ext cx="5806440" cy="4032504"/>
          </a:xfrm>
          <a:prstGeom prst="rect">
            <a:avLst/>
          </a:prstGeom>
        </p:spPr>
      </p:pic>
      <p:sp>
        <p:nvSpPr>
          <p:cNvPr id="20" name="cadre app_sur"/>
          <p:cNvSpPr/>
          <p:nvPr/>
        </p:nvSpPr>
        <p:spPr>
          <a:xfrm>
            <a:off x="5806440" y="1920240"/>
            <a:ext cx="5806440" cy="4032504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5806440" y="603504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L'application AgriVision-AI : diagnostic, hypothèses classées et carte des zones décisives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Six couches, deux lots, un contrat entre les deux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329184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Lot A  ·  Cheick  ·  données et service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783080"/>
            <a:ext cx="502920" cy="32918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5394960" y="1783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Lot B  ·  Faustin  ·  modèle et application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CONSTRUIRE LE MODÈLE   </a:t>
            </a:r>
            <a:r>
              <a:rPr lang="en-US" sz="1200" i="1" dirty="0">
                <a:solidFill>
                  <a:schemeClr val="accent6"/>
                </a:solidFill>
              </a:rPr>
              <a:t>une seule fois, hors ligne</a:t>
            </a:r>
            <a:endParaRPr lang="en-US" sz="1200" dirty="0"/>
          </a:p>
        </p:txBody>
      </p:sp>
      <p:sp>
        <p:nvSpPr>
          <p:cNvPr id="10" name="carte 1"/>
          <p:cNvSpPr/>
          <p:nvPr/>
        </p:nvSpPr>
        <p:spPr>
          <a:xfrm>
            <a:off x="548640" y="260604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pastille 1"/>
          <p:cNvSpPr/>
          <p:nvPr/>
        </p:nvSpPr>
        <p:spPr>
          <a:xfrm>
            <a:off x="713232" y="276148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71323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74320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Corpus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278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PlantVillage + PlantWild, 13 711 photos, 10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35224" y="3154680"/>
            <a:ext cx="393192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6" name="carte 2"/>
          <p:cNvSpPr/>
          <p:nvPr/>
        </p:nvSpPr>
        <p:spPr>
          <a:xfrm>
            <a:off x="3383280" y="260604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pastille 2"/>
          <p:cNvSpPr/>
          <p:nvPr/>
        </p:nvSpPr>
        <p:spPr>
          <a:xfrm>
            <a:off x="3547872" y="276148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354787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41648" y="274320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Préparation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2278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doublons retirés, découpage figé, 224 × 224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9864" y="3154680"/>
            <a:ext cx="393192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2" name="carte 4"/>
          <p:cNvSpPr/>
          <p:nvPr/>
        </p:nvSpPr>
        <p:spPr>
          <a:xfrm>
            <a:off x="6217920" y="260604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pastille 4"/>
          <p:cNvSpPr/>
          <p:nvPr/>
        </p:nvSpPr>
        <p:spPr>
          <a:xfrm>
            <a:off x="6382512" y="2761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38251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76288" y="274320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Entraînement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2278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MobileNetV2, transfert puis affinage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04504" y="3154680"/>
            <a:ext cx="393192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8" name="carte 5"/>
          <p:cNvSpPr/>
          <p:nvPr/>
        </p:nvSpPr>
        <p:spPr>
          <a:xfrm>
            <a:off x="9052560" y="260604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pastille 5"/>
          <p:cNvSpPr/>
          <p:nvPr/>
        </p:nvSpPr>
        <p:spPr>
          <a:xfrm>
            <a:off x="9217152" y="276148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921715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710928" y="274320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Interprétabilité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235440" y="32278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Grad-CAM : la zone qui a décidé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023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UTILISER LE MODÈLE   </a:t>
            </a:r>
            <a:r>
              <a:rPr lang="en-US" sz="1200" i="1" dirty="0">
                <a:solidFill>
                  <a:schemeClr val="accent6"/>
                </a:solidFill>
              </a:rPr>
              <a:t>à chaque photo envoyée</a:t>
            </a:r>
            <a:endParaRPr lang="en-US" sz="1200" dirty="0"/>
          </a:p>
        </p:txBody>
      </p:sp>
      <p:sp>
        <p:nvSpPr>
          <p:cNvPr id="34" name="photo envoyée"/>
          <p:cNvSpPr/>
          <p:nvPr/>
        </p:nvSpPr>
        <p:spPr>
          <a:xfrm>
            <a:off x="548640" y="434340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pic>
        <p:nvPicPr>
          <p:cNvPr id="35" name="photo terrain_mildiou" descr="photo de feuil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80560"/>
            <a:ext cx="822960" cy="82296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645920" y="4480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Photo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prise au téléphone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2935224" y="4892040"/>
            <a:ext cx="393192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8" name="carte 6"/>
          <p:cNvSpPr/>
          <p:nvPr/>
        </p:nvSpPr>
        <p:spPr>
          <a:xfrm>
            <a:off x="3383280" y="434340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pastille 6"/>
          <p:cNvSpPr/>
          <p:nvPr/>
        </p:nvSpPr>
        <p:spPr>
          <a:xfrm>
            <a:off x="3547872" y="44988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 txBox="1"/>
          <p:nvPr/>
        </p:nvSpPr>
        <p:spPr>
          <a:xfrm>
            <a:off x="3547872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4041648" y="44805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3566160" y="4965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Streamlit : diagnostic, top 3, conseils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788152" y="4892040"/>
            <a:ext cx="85953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 txBox="1"/>
          <p:nvPr/>
        </p:nvSpPr>
        <p:spPr>
          <a:xfrm>
            <a:off x="5715000" y="43616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contrat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d'interface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0" y="4983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</a:rPr>
              <a:t>POST /predict</a:t>
            </a:r>
            <a:endParaRPr lang="en-US" sz="1000" dirty="0"/>
          </a:p>
        </p:txBody>
      </p:sp>
      <p:sp>
        <p:nvSpPr>
          <p:cNvPr id="46" name="carte 3"/>
          <p:cNvSpPr/>
          <p:nvPr/>
        </p:nvSpPr>
        <p:spPr>
          <a:xfrm>
            <a:off x="6720840" y="4343400"/>
            <a:ext cx="233172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pastille 3"/>
          <p:cNvSpPr/>
          <p:nvPr/>
        </p:nvSpPr>
        <p:spPr>
          <a:xfrm>
            <a:off x="6885432" y="449884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5"/>
          <p:cNvSpPr txBox="1"/>
          <p:nvPr/>
        </p:nvSpPr>
        <p:spPr>
          <a:xfrm>
            <a:off x="6885432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379208" y="448056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API d'inférence</a:t>
            </a:r>
            <a:endParaRPr lang="en-US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6903720" y="49651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FastAPI, vérifie l'image, répond en JSON</a:t>
            </a:r>
            <a:endParaRPr lang="en-US" sz="1200" dirty="0"/>
          </a:p>
        </p:txBody>
      </p:sp>
      <p:sp>
        <p:nvSpPr>
          <p:cNvPr id="51" name="modèle entraîné"/>
          <p:cNvSpPr/>
          <p:nvPr/>
        </p:nvSpPr>
        <p:spPr>
          <a:xfrm>
            <a:off x="9555480" y="434340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 txBox="1"/>
          <p:nvPr/>
        </p:nvSpPr>
        <p:spPr>
          <a:xfrm>
            <a:off x="9692640" y="44348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Modèle entraîné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mobilenetv2-v2.0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10469880" y="3758184"/>
            <a:ext cx="0" cy="530352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1"/>
          <p:cNvSpPr/>
          <p:nvPr/>
        </p:nvSpPr>
        <p:spPr>
          <a:xfrm>
            <a:off x="9107424" y="4892040"/>
            <a:ext cx="393192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La frontière entre les deux lots, c'est l'API : tant que le contrat est respecté, chacun avance sans attendre l'autre.</a:t>
            </a:r>
            <a:endParaRPr lang="en-US" sz="15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CORPUS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10 classes, 13 725 photos, un déséquilibre de 1 à 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TOMATE</a:t>
            </a:r>
            <a:endParaRPr lang="en-US" sz="1200" dirty="0"/>
          </a:p>
        </p:txBody>
      </p:sp>
      <p:pic>
        <p:nvPicPr>
          <p:cNvPr id="6" name="photo classe_Tomate__Saine" descr="Sa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Saine</a:t>
            </a:r>
            <a:endParaRPr lang="en-US" sz="1000" dirty="0"/>
          </a:p>
        </p:txBody>
      </p:sp>
      <p:pic>
        <p:nvPicPr>
          <p:cNvPr id="8" name="photo classe_Tomate__Mildiou_tardif" descr="Mildiou tard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2121408"/>
            <a:ext cx="868680" cy="8686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09928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Mildiou tardif</a:t>
            </a:r>
            <a:endParaRPr lang="en-US" sz="1000" dirty="0"/>
          </a:p>
        </p:txBody>
      </p:sp>
      <p:pic>
        <p:nvPicPr>
          <p:cNvPr id="10" name="photo classe_Tomate__Tache_bacterienne" descr="Tache ba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656" y="2121408"/>
            <a:ext cx="868680" cy="8686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916936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Tache bact.</a:t>
            </a:r>
            <a:endParaRPr lang="en-US" sz="1000" dirty="0"/>
          </a:p>
        </p:txBody>
      </p:sp>
      <p:pic>
        <p:nvPicPr>
          <p:cNvPr id="12" name="photo classe_Tomate__Septoriose" descr="Septori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2121408"/>
            <a:ext cx="868680" cy="8686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123944" y="30175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Septoriose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MAÏS</a:t>
            </a:r>
            <a:endParaRPr lang="en-US" sz="1200" dirty="0"/>
          </a:p>
        </p:txBody>
      </p:sp>
      <p:pic>
        <p:nvPicPr>
          <p:cNvPr id="15" name="photo classe_Mais__Sain" descr="Sa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602736"/>
            <a:ext cx="868680" cy="8686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02920" y="4498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Sain</a:t>
            </a:r>
            <a:endParaRPr lang="en-US" sz="1000" dirty="0"/>
          </a:p>
        </p:txBody>
      </p:sp>
      <p:pic>
        <p:nvPicPr>
          <p:cNvPr id="17" name="photo classe_Mais__Rouille_commune" descr="Rouil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5648" y="3602736"/>
            <a:ext cx="868680" cy="86868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709928" y="4498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Rouille</a:t>
            </a:r>
            <a:endParaRPr lang="en-US" sz="1000" dirty="0"/>
          </a:p>
        </p:txBody>
      </p:sp>
      <p:pic>
        <p:nvPicPr>
          <p:cNvPr id="19" name="photo classe_Mais__Helminthosporiose" descr="Helmintho.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2656" y="3602736"/>
            <a:ext cx="868680" cy="8686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2916936" y="4498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Helmintho.</a:t>
            </a:r>
            <a:endParaRPr lang="en-US" sz="1000" dirty="0"/>
          </a:p>
        </p:txBody>
      </p:sp>
      <p:pic>
        <p:nvPicPr>
          <p:cNvPr id="21" name="photo classe_Mais__Cercosporiose" descr="Cercospori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9664" y="3602736"/>
            <a:ext cx="868680" cy="86868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123944" y="44988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Cercosporiose</a:t>
            </a:r>
            <a:endParaRPr lang="en-US" sz="1000" dirty="0"/>
          </a:p>
        </p:txBody>
      </p:sp>
      <p:sp>
        <p:nvSpPr>
          <p:cNvPr id="23" name="Text 13"/>
          <p:cNvSpPr txBox="1"/>
          <p:nvPr/>
        </p:nvSpPr>
        <p:spPr>
          <a:xfrm>
            <a:off x="548640" y="4791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POIVRON</a:t>
            </a:r>
            <a:endParaRPr lang="en-US" sz="1200" dirty="0"/>
          </a:p>
        </p:txBody>
      </p:sp>
      <p:pic>
        <p:nvPicPr>
          <p:cNvPr id="24" name="photo classe_Poivron__Sain" descr="Sai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084064"/>
            <a:ext cx="868680" cy="8686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502920" y="59801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Sain</a:t>
            </a:r>
            <a:endParaRPr lang="en-US" sz="1000" dirty="0"/>
          </a:p>
        </p:txBody>
      </p:sp>
      <p:pic>
        <p:nvPicPr>
          <p:cNvPr id="26" name="photo classe_Poivron__Tache_bacterienne" descr="Tache bact.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5648" y="5084064"/>
            <a:ext cx="868680" cy="86868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709928" y="59801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Tache bact.</a:t>
            </a:r>
            <a:endParaRPr lang="en-US" sz="1000" dirty="0"/>
          </a:p>
        </p:txBody>
      </p:sp>
      <p:graphicFrame>
        <p:nvGraphicFramePr>
          <p:cNvPr id="28" name="graphique images par classe"/>
          <p:cNvGraphicFramePr/>
          <p:nvPr/>
        </p:nvGraphicFramePr>
        <p:xfrm>
          <a:off x="5623560" y="1783080"/>
          <a:ext cx="5989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29" name="Text 16"/>
          <p:cNvSpPr txBox="1"/>
          <p:nvPr/>
        </p:nvSpPr>
        <p:spPr>
          <a:xfrm>
            <a:off x="5623560" y="576072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La cercosporiose du maïs, 4,15 fois moins fournie que la classe la plus riche, sera aussi la plus faible du modèle.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CORPUS  ·  RÔLES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Trois corpus, trois rôles bien séparés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Entraînement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v1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Entraînement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v2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studio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92124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Test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terrain</a:t>
            </a:r>
            <a:endParaRPr lang="en-US" sz="1300" dirty="0"/>
          </a:p>
        </p:txBody>
      </p:sp>
      <p:sp>
        <p:nvSpPr>
          <p:cNvPr id="9" name="ligne PlantVillage"/>
          <p:cNvSpPr/>
          <p:nvPr/>
        </p:nvSpPr>
        <p:spPr>
          <a:xfrm>
            <a:off x="548640" y="25146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6F8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PlantVillage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studio, feuille seule sur fond uni  ·  13 711 images</a:t>
            </a:r>
            <a:endParaRPr lang="en-US" sz="1700" dirty="0"/>
          </a:p>
        </p:txBody>
      </p:sp>
      <p:sp>
        <p:nvSpPr>
          <p:cNvPr id="11" name="PlantVillage rôle 1"/>
          <p:cNvSpPr/>
          <p:nvPr/>
        </p:nvSpPr>
        <p:spPr>
          <a:xfrm>
            <a:off x="5509260" y="2734056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550926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PlantVillage rôle 2"/>
          <p:cNvSpPr/>
          <p:nvPr/>
        </p:nvSpPr>
        <p:spPr>
          <a:xfrm>
            <a:off x="7200900" y="2734056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72009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PlantVillage rôle 3"/>
          <p:cNvSpPr/>
          <p:nvPr/>
        </p:nvSpPr>
        <p:spPr>
          <a:xfrm>
            <a:off x="8892540" y="2734056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889254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PlantVillage rôle 4"/>
          <p:cNvSpPr/>
          <p:nvPr/>
        </p:nvSpPr>
        <p:spPr>
          <a:xfrm>
            <a:off x="10584180" y="273405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ligne PlantWild"/>
          <p:cNvSpPr/>
          <p:nvPr/>
        </p:nvSpPr>
        <p:spPr>
          <a:xfrm>
            <a:off x="548640" y="347472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6F8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77240" y="347472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PlantWild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terrain  ·  1 765 images  ·  licence CC BY-NC-ND 4.0</a:t>
            </a:r>
            <a:endParaRPr lang="en-US" sz="1700" dirty="0"/>
          </a:p>
        </p:txBody>
      </p:sp>
      <p:sp>
        <p:nvSpPr>
          <p:cNvPr id="20" name="PlantWild rôle 1"/>
          <p:cNvSpPr/>
          <p:nvPr/>
        </p:nvSpPr>
        <p:spPr>
          <a:xfrm>
            <a:off x="5509260" y="369417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PlantWild rôle 2"/>
          <p:cNvSpPr/>
          <p:nvPr/>
        </p:nvSpPr>
        <p:spPr>
          <a:xfrm>
            <a:off x="7200900" y="3694176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20090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PlantWild rôle 3"/>
          <p:cNvSpPr/>
          <p:nvPr/>
        </p:nvSpPr>
        <p:spPr>
          <a:xfrm>
            <a:off x="8892540" y="369417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PlantWild rôle 4"/>
          <p:cNvSpPr/>
          <p:nvPr/>
        </p:nvSpPr>
        <p:spPr>
          <a:xfrm>
            <a:off x="10584180" y="369417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ligne PlantDoc"/>
          <p:cNvSpPr/>
          <p:nvPr/>
        </p:nvSpPr>
        <p:spPr>
          <a:xfrm>
            <a:off x="548640" y="4434840"/>
            <a:ext cx="1106424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777240" y="443484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PlantDoc</a:t>
            </a:r>
            <a:endParaRPr lang="en-US" sz="17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terrain, sources variées  ·  942 images, 9 classes</a:t>
            </a:r>
            <a:endParaRPr lang="en-US" sz="1700" dirty="0"/>
          </a:p>
        </p:txBody>
      </p:sp>
      <p:sp>
        <p:nvSpPr>
          <p:cNvPr id="27" name="PlantDoc rôle 1"/>
          <p:cNvSpPr/>
          <p:nvPr/>
        </p:nvSpPr>
        <p:spPr>
          <a:xfrm>
            <a:off x="5509260" y="465429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PlantDoc rôle 2"/>
          <p:cNvSpPr/>
          <p:nvPr/>
        </p:nvSpPr>
        <p:spPr>
          <a:xfrm>
            <a:off x="7200900" y="465429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PlantDoc rôle 3"/>
          <p:cNvSpPr/>
          <p:nvPr/>
        </p:nvSpPr>
        <p:spPr>
          <a:xfrm>
            <a:off x="8892540" y="4654296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PlantDoc rôle 4"/>
          <p:cNvSpPr/>
          <p:nvPr/>
        </p:nvSpPr>
        <p:spPr>
          <a:xfrm>
            <a:off x="10584180" y="4654296"/>
            <a:ext cx="365760" cy="365760"/>
          </a:xfrm>
          <a:prstGeom prst="ellipse">
            <a:avLst/>
          </a:prstGeom>
          <a:solidFill>
            <a:schemeClr val="accent4"/>
          </a:solidFill>
          <a:ln w="158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 txBox="1"/>
          <p:nvPr/>
        </p:nvSpPr>
        <p:spPr>
          <a:xfrm>
            <a:off x="1058418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règle du protocole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77724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La règle qui rend la mesure honnête  </a:t>
            </a:r>
            <a:r>
              <a:rPr lang="en-US" sz="1500" dirty="0">
                <a:solidFill>
                  <a:schemeClr val="bg1"/>
                </a:solidFill>
              </a:rPr>
              <a:t>PlantDoc n'a servi à entraîner aucune version du modèle : au champ, le modèle est jugé sur des photos qu'il n'a jamais vues.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PRÉPARATION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Doublons isolés, découpage figé avant tout entraînement</a:t>
            </a:r>
            <a:endParaRPr lang="en-US" sz="3000" dirty="0"/>
          </a:p>
        </p:txBody>
      </p:sp>
      <p:sp>
        <p:nvSpPr>
          <p:cNvPr id="5" name="carte 1"/>
          <p:cNvSpPr/>
          <p:nvPr/>
        </p:nvSpPr>
        <p:spPr>
          <a:xfrm>
            <a:off x="548640" y="1874520"/>
            <a:ext cx="254203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pastille 1"/>
          <p:cNvSpPr/>
          <p:nvPr/>
        </p:nvSpPr>
        <p:spPr>
          <a:xfrm>
            <a:off x="713232" y="202996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1323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0116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Intégrité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13 725 images de 256 px, aucune corrompue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267462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1" name="carte 2"/>
          <p:cNvSpPr/>
          <p:nvPr/>
        </p:nvSpPr>
        <p:spPr>
          <a:xfrm>
            <a:off x="3364992" y="1874520"/>
            <a:ext cx="254203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pastille 2"/>
          <p:cNvSpPr/>
          <p:nvPr/>
        </p:nvSpPr>
        <p:spPr>
          <a:xfrm>
            <a:off x="3529584" y="202996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352958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0116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Doublons exacts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47872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empreinte MD5 : 14 groupes retirés, il reste 13 711 images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25312" y="267462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carte 3"/>
          <p:cNvSpPr/>
          <p:nvPr/>
        </p:nvSpPr>
        <p:spPr>
          <a:xfrm>
            <a:off x="6181344" y="1874520"/>
            <a:ext cx="254203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pastille 3"/>
          <p:cNvSpPr/>
          <p:nvPr/>
        </p:nvSpPr>
        <p:spPr>
          <a:xfrm>
            <a:off x="6345936" y="202996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34593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20116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Quasi-doublons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hash perceptif : 49 groupes, gardés ensemble dans la même partie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41664" y="267462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3" name="carte 4"/>
          <p:cNvSpPr/>
          <p:nvPr/>
        </p:nvSpPr>
        <p:spPr>
          <a:xfrm>
            <a:off x="8997696" y="1874520"/>
            <a:ext cx="2542032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pastille 4"/>
          <p:cNvSpPr/>
          <p:nvPr/>
        </p:nvSpPr>
        <p:spPr>
          <a:xfrm>
            <a:off x="9162288" y="2029968"/>
            <a:ext cx="384048" cy="38404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 txBox="1"/>
          <p:nvPr/>
        </p:nvSpPr>
        <p:spPr>
          <a:xfrm>
            <a:off x="916228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656064" y="2011680"/>
            <a:ext cx="1746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Découpage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2496312"/>
            <a:ext cx="2176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stratifié, graine fixée à 42, consigné image par image dans un manifeste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LE DÉCOUPAGE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7708392" cy="713232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 txBox="1"/>
          <p:nvPr/>
        </p:nvSpPr>
        <p:spPr>
          <a:xfrm>
            <a:off x="685800" y="4114800"/>
            <a:ext cx="7470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Entraînement  ·  9 597 images  ·  70 %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93608" y="4114800"/>
            <a:ext cx="1623060" cy="713232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 txBox="1"/>
          <p:nvPr/>
        </p:nvSpPr>
        <p:spPr>
          <a:xfrm>
            <a:off x="8430768" y="4114800"/>
            <a:ext cx="13853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Validation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2 058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953244" y="4114800"/>
            <a:ext cx="1623060" cy="713232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 txBox="1"/>
          <p:nvPr/>
        </p:nvSpPr>
        <p:spPr>
          <a:xfrm>
            <a:off x="10090404" y="4114800"/>
            <a:ext cx="13853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2 056</a:t>
            </a:r>
            <a:endParaRPr lang="en-US" sz="1300" dirty="0"/>
          </a:p>
        </p:txBody>
      </p:sp>
      <p:sp>
        <p:nvSpPr>
          <p:cNvPr id="35" name="pourquoi c'est décisif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777240" y="518464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Pourquoi c'est décisif  </a:t>
            </a:r>
            <a:r>
              <a:rPr lang="en-US" sz="1500" dirty="0">
                <a:solidFill>
                  <a:schemeClr val="tx1"/>
                </a:solidFill>
              </a:rPr>
              <a:t>Sans cette règle, une image de test pourrait avoir sa quasi-jumelle dans l'entraînement : le score serait plus flatteur, et faux. Le manifeste garantit aussi que la v1 et la v2 sont notées sur exactement le même test.</a:t>
            </a:r>
            <a:endParaRPr lang="en-US" sz="15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SERVICE D'INFÉRENCE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L'API vérifie l'image et refuse plutôt que d'inventer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LE TRAJET D'UNE PHOTO DANS POST /predict</a:t>
            </a:r>
            <a:endParaRPr lang="en-US" sz="1200" dirty="0"/>
          </a:p>
        </p:txBody>
      </p:sp>
      <p:sp>
        <p:nvSpPr>
          <p:cNvPr id="6" name="carte Photo reçue"/>
          <p:cNvSpPr/>
          <p:nvPr/>
        </p:nvSpPr>
        <p:spPr>
          <a:xfrm>
            <a:off x="548640" y="21031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Photo reçue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2491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envoyée par l'application, sans modification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83464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carte Contrôles"/>
          <p:cNvSpPr/>
          <p:nvPr/>
        </p:nvSpPr>
        <p:spPr>
          <a:xfrm>
            <a:off x="3364992" y="21031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3547872" y="2240280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Contrôles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72491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JPEG ou PNG, 3 canaux, 5 Mo maximum, image réellement lisible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25312" y="283464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carte Prédiction"/>
          <p:cNvSpPr/>
          <p:nvPr/>
        </p:nvSpPr>
        <p:spPr>
          <a:xfrm>
            <a:off x="6181344" y="21031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6364224" y="2240280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Prédiction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72491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redimensionnée en 224 × 224, modèle chargé une seule fois au démarrage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41664" y="2834640"/>
            <a:ext cx="23774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8" name="carte Réponse JSON"/>
          <p:cNvSpPr/>
          <p:nvPr/>
        </p:nvSpPr>
        <p:spPr>
          <a:xfrm>
            <a:off x="8997696" y="2103120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9180576" y="2240280"/>
            <a:ext cx="2221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Réponse JSON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724912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classe, confiance, 3 hypothèses, carte Grad-CAM, version du modèle</a:t>
            </a:r>
            <a:endParaRPr lang="en-US" sz="1300" dirty="0"/>
          </a:p>
        </p:txBody>
      </p:sp>
      <p:sp>
        <p:nvSpPr>
          <p:cNvPr id="21" name="erreur 400  ·  image refusée"/>
          <p:cNvSpPr/>
          <p:nvPr/>
        </p:nvSpPr>
        <p:spPr>
          <a:xfrm>
            <a:off x="548640" y="388620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49808" y="39959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400  ·  image refusée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format non supporté, fichier vide, trop lourd ou illisible</a:t>
            </a:r>
            <a:endParaRPr lang="en-US" sz="1500" dirty="0"/>
          </a:p>
        </p:txBody>
      </p:sp>
      <p:sp>
        <p:nvSpPr>
          <p:cNvPr id="23" name="erreur 503  ·  aucun modèle chargé"/>
          <p:cNvSpPr/>
          <p:nvPr/>
        </p:nvSpPr>
        <p:spPr>
          <a:xfrm>
            <a:off x="4297680" y="388620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4498848" y="399592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503  ·  aucun modèle chargé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le service le dit, au lieu de répondre au hasard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57800"/>
            <a:ext cx="7269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Le redimensionnement est fait par le service, jamais par l'application : une seule chaîne de prétraitement pour une même photo.</a:t>
            </a:r>
            <a:endParaRPr lang="en-US" sz="1500" dirty="0"/>
          </a:p>
        </p:txBody>
      </p:sp>
      <p:sp>
        <p:nvSpPr>
          <p:cNvPr id="26" name="le service en bref"/>
          <p:cNvSpPr/>
          <p:nvPr/>
        </p:nvSpPr>
        <p:spPr>
          <a:xfrm>
            <a:off x="8092440" y="38862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8321040" y="4041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EN BREF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routes : /predict, /health, /classes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/health annonce la version réellement chargée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 conteneurs Docker séparés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30 tests automatiques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MODÈLE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On part d'un réseau qui sait déjà voir</a:t>
            </a:r>
            <a:endParaRPr lang="en-US" sz="3000" dirty="0"/>
          </a:p>
        </p:txBody>
      </p:sp>
      <p:sp>
        <p:nvSpPr>
          <p:cNvPr id="5" name="photo en entrée"/>
          <p:cNvSpPr/>
          <p:nvPr/>
        </p:nvSpPr>
        <p:spPr>
          <a:xfrm>
            <a:off x="548640" y="1874520"/>
            <a:ext cx="178308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pic>
        <p:nvPicPr>
          <p:cNvPr id="6" name="photo studio_mildiou" descr="studio mildio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84248"/>
            <a:ext cx="914400" cy="9144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Photo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224 × 224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77440" y="2670048"/>
            <a:ext cx="29260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9" name="carte MobileNetV2"/>
          <p:cNvSpPr/>
          <p:nvPr/>
        </p:nvSpPr>
        <p:spPr>
          <a:xfrm>
            <a:off x="2715768" y="1874520"/>
            <a:ext cx="3520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2898648" y="20116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MobileNetV2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2496312"/>
            <a:ext cx="3154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pré-entraîné sur ImageNet (plus d'un million d'images) : sait déjà repérer contours et textures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81928" y="2670048"/>
            <a:ext cx="29260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3" name="carte Tête ajoutée"/>
          <p:cNvSpPr/>
          <p:nvPr/>
        </p:nvSpPr>
        <p:spPr>
          <a:xfrm>
            <a:off x="6620256" y="1874520"/>
            <a:ext cx="2377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1B2A2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6803136" y="20116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Tête ajoutée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03136" y="2496312"/>
            <a:ext cx="20116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agrégation, abandon de 30 % des neurones, 10 sorties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043416" y="2670048"/>
            <a:ext cx="29260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10 probabilités"/>
          <p:cNvSpPr/>
          <p:nvPr/>
        </p:nvSpPr>
        <p:spPr>
          <a:xfrm>
            <a:off x="9381744" y="1874520"/>
            <a:ext cx="223113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9509760" y="1965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10 probabilités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509760" y="2359152"/>
            <a:ext cx="1360627" cy="20116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10972800" y="2322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96 %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509760" y="2633472"/>
            <a:ext cx="54864" cy="20116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 txBox="1"/>
          <p:nvPr/>
        </p:nvSpPr>
        <p:spPr>
          <a:xfrm>
            <a:off x="10972800" y="2596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3 %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509760" y="2907792"/>
            <a:ext cx="54864" cy="201168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10972800" y="28712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1 %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50976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somme = 100 %</a:t>
            </a:r>
            <a:endParaRPr lang="en-US" sz="1000" dirty="0"/>
          </a:p>
        </p:txBody>
      </p:sp>
      <p:sp>
        <p:nvSpPr>
          <p:cNvPr id="26" name="PHASE 1  ·  TRANSFERT"/>
          <p:cNvSpPr/>
          <p:nvPr/>
        </p:nvSpPr>
        <p:spPr>
          <a:xfrm>
            <a:off x="548640" y="379476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 txBox="1"/>
          <p:nvPr/>
        </p:nvSpPr>
        <p:spPr>
          <a:xfrm>
            <a:off x="77724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PHASE 1  ·  TRANSFERT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4251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Corps gelé, seule la tête apprend. Taux d'apprentissage de 1 / 1 000, 10 époques au plus.</a:t>
            </a:r>
            <a:endParaRPr lang="en-US" sz="1400" dirty="0"/>
          </a:p>
        </p:txBody>
      </p:sp>
      <p:sp>
        <p:nvSpPr>
          <p:cNvPr id="29" name="PHASE 2  ·  AFFINAGE"/>
          <p:cNvSpPr/>
          <p:nvPr/>
        </p:nvSpPr>
        <p:spPr>
          <a:xfrm>
            <a:off x="6172200" y="3794760"/>
            <a:ext cx="54406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 txBox="1"/>
          <p:nvPr/>
        </p:nvSpPr>
        <p:spPr>
          <a:xfrm>
            <a:off x="640080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PHASE 2  ·  AFFINAGE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4251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Les 40 dernières couches réapprennent (80 pour la v2), avec un taux 100 fois plus faible, 15 époques au plus.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POURQUOI MOBILENETV2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961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26 Mo  </a:t>
            </a:r>
            <a:r>
              <a:rPr lang="en-US" sz="1300" dirty="0">
                <a:solidFill>
                  <a:schemeClr val="accent6"/>
                </a:solidFill>
              </a:rPr>
              <a:t>une fois entraîné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4297680" y="55961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&lt; 1 s  </a:t>
            </a:r>
            <a:r>
              <a:rPr lang="en-US" sz="1300" dirty="0">
                <a:solidFill>
                  <a:schemeClr val="accent6"/>
                </a:solidFill>
              </a:rPr>
              <a:t>par image, sans carte graphique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559612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mobile  </a:t>
            </a:r>
            <a:r>
              <a:rPr lang="en-US" sz="1300" dirty="0">
                <a:solidFill>
                  <a:schemeClr val="accent6"/>
                </a:solidFill>
              </a:rPr>
              <a:t>conçu pour des ressources limitées</a:t>
            </a:r>
            <a:endParaRPr lang="en-US" sz="2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RÉSULTATS  ·  STUDIO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En studio, 96,6 % de diagnostics justes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tx1"/>
                </a:solidFill>
              </a:rPr>
              <a:t>96,6 %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d'exactitude sur 2 056 photos de test jamais vues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0,957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F1 macro, moyenne des 10 classes</a:t>
            </a:r>
            <a:endParaRPr lang="en-US" sz="1300" dirty="0"/>
          </a:p>
        </p:txBody>
      </p:sp>
      <p:sp>
        <p:nvSpPr>
          <p:cNvPr id="9" name="la moyenne cache une faiblesse"/>
          <p:cNvSpPr/>
          <p:nvPr/>
        </p:nvSpPr>
        <p:spPr>
          <a:xfrm>
            <a:off x="548640" y="4480560"/>
            <a:ext cx="34290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749808" y="46177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Mais la moyenne cache une faiblesse : </a:t>
            </a:r>
            <a:r>
              <a:rPr lang="en-US" sz="1400" dirty="0">
                <a:solidFill>
                  <a:schemeClr val="tx1"/>
                </a:solidFill>
              </a:rPr>
              <a:t>la cercosporiose, classe la plus rare, se trompe encore une fois sur cinq.</a:t>
            </a:r>
            <a:endParaRPr lang="en-US" sz="1400" dirty="0"/>
          </a:p>
        </p:txBody>
      </p:sp>
      <p:graphicFrame>
        <p:nvGraphicFramePr>
          <p:cNvPr id="11" name="graphique F1 studio"/>
          <p:cNvGraphicFramePr/>
          <p:nvPr/>
        </p:nvGraphicFramePr>
        <p:xfrm>
          <a:off x="4206240" y="1783080"/>
          <a:ext cx="443484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91540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LA CONFUSION</a:t>
            </a:r>
            <a:endParaRPr lang="en-US" sz="1200" dirty="0"/>
          </a:p>
        </p:txBody>
      </p:sp>
      <p:pic>
        <p:nvPicPr>
          <p:cNvPr id="13" name="photo classe_Mais__Cercosporiose" descr="Cercosporio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2148840"/>
            <a:ext cx="1280160" cy="12801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89711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Cercosporiose</a:t>
            </a:r>
            <a:endParaRPr lang="en-US" sz="1000" dirty="0"/>
          </a:p>
        </p:txBody>
      </p:sp>
      <p:pic>
        <p:nvPicPr>
          <p:cNvPr id="15" name="photo classe_Mais__Helminthosporiose" descr="Helminthospori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148840"/>
            <a:ext cx="1280160" cy="12801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268712" y="3474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Helminthosporiose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915400" y="388620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Deux maladies du maïs aux lésions allongées brun clair, difficiles à distinguer à l'œil nu. La cercosporiose n'a que 513 images.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RÉSULTATS  ·  TERRAIN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Hors du studio, le modèle tombe de 96 % à 36 %</a:t>
            </a:r>
            <a:endParaRPr lang="en-US" sz="3000" dirty="0"/>
          </a:p>
        </p:txBody>
      </p:sp>
      <p:pic>
        <p:nvPicPr>
          <p:cNvPr id="5" name="photo studio_mildiou" descr="STUDIO  ·  PLANTVILL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265176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STUDIO  ·  PLANTVILLAGE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</a:rPr>
              <a:t>96,6 %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de diagnostics justes, 2 056 photos de test</a:t>
            </a:r>
            <a:endParaRPr lang="en-US" sz="1200" dirty="0"/>
          </a:p>
        </p:txBody>
      </p:sp>
      <p:pic>
        <p:nvPicPr>
          <p:cNvPr id="9" name="photo terrain_mildiou" descr="TERRAIN  ·  PLANTDO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20240"/>
            <a:ext cx="2651760" cy="2651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0624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TERRAIN  ·  PLANTDOC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206240" y="4983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35,7 %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de diagnostics justes, 942 photos de terrain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10128" y="3246120"/>
            <a:ext cx="786384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0"/>
          <p:cNvSpPr txBox="1"/>
          <p:nvPr/>
        </p:nvSpPr>
        <p:spPr>
          <a:xfrm>
            <a:off x="3200400" y="26791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même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modèle</a:t>
            </a:r>
            <a:endParaRPr lang="en-US" sz="1100" dirty="0"/>
          </a:p>
        </p:txBody>
      </p:sp>
      <p:sp>
        <p:nvSpPr>
          <p:cNvPr id="15" name="encadré explication"/>
          <p:cNvSpPr/>
          <p:nvPr/>
        </p:nvSpPr>
        <p:spPr>
          <a:xfrm>
            <a:off x="7498080" y="1920240"/>
            <a:ext cx="4114800" cy="416052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 txBox="1"/>
          <p:nvPr/>
        </p:nvSpPr>
        <p:spPr>
          <a:xfrm>
            <a:off x="7726680" y="21488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Même maladie, même modèle v1, mêmes 10 classes : seule la prise de vue change.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Studio : une feuille seule, sur fond uni, sous une lumière maîtrisée.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Terrain : feuillage, fruits, ombres, mains, cadrage libre.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modèle n'avait jamais vu ces conditions pendant son entraînement.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726680" y="5212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Mesuré sur 942 photos PlantDoc qu'aucune version du modèle n'a vues pendant son entraînement.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DIAGNOSTIC DE L'ÉCHEC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Le vrai danger : le v1 se trompe en restant sûr de lui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SUR LES 942 PHOTOS DE TERRAIN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Confiance moyenne affichée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120640" cy="384048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142598" cy="38404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 txBox="1"/>
          <p:nvPr/>
        </p:nvSpPr>
        <p:spPr>
          <a:xfrm>
            <a:off x="5806440" y="24414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80,9 %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Diagnostics réellement justes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120640" cy="384048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828068" cy="384048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5806440" y="3310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35,7 %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0 / 63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tomates saines reconnues au champ, contre un F1 de 0,986 en studio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4069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403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983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diagnostics faux affichés sans le moindre avertissement</a:t>
            </a:r>
            <a:endParaRPr lang="en-US" sz="1300" dirty="0"/>
          </a:p>
        </p:txBody>
      </p:sp>
      <p:sp>
        <p:nvSpPr>
          <p:cNvPr id="18" name="pourquoi"/>
          <p:cNvSpPr/>
          <p:nvPr/>
        </p:nvSpPr>
        <p:spPr>
          <a:xfrm>
            <a:off x="7223760" y="1783080"/>
            <a:ext cx="4389120" cy="44348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745236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POURQUOI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233172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 studio, une feuille saine, c'est un limbe vert régulier sur fond gris. Au champ : reflets, ombres, poussière, morsures d'insectes.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Pour les feuilles saines, le v1 s'appuyait surtout sur les conditions du studio.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Entraîné sur des étiquettes franches, il n'a jamais appris à réserver son jugement.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agriculteur qui lit 80 % n'a aucune raison de douter.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VERSION 2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 v2 apprend à douter : cinq corrections ciblées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DÉFAUT MESURÉ SUR LE V1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CORRECTION APPORTÉE DANS LA V2</a:t>
            </a:r>
            <a:endParaRPr lang="en-US" sz="1200" dirty="0"/>
          </a:p>
        </p:txBody>
      </p:sp>
      <p:sp>
        <p:nvSpPr>
          <p:cNvPr id="7" name="défaut 1"/>
          <p:cNvSpPr/>
          <p:nvPr/>
        </p:nvSpPr>
        <p:spPr>
          <a:xfrm>
            <a:off x="548640" y="2130552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49808" y="213055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N'a jamais vu de photo de terrain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32120" y="2459736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correction 1"/>
          <p:cNvSpPr/>
          <p:nvPr/>
        </p:nvSpPr>
        <p:spPr>
          <a:xfrm>
            <a:off x="5897880" y="2130552"/>
            <a:ext cx="57150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pastille 1"/>
          <p:cNvSpPr/>
          <p:nvPr/>
        </p:nvSpPr>
        <p:spPr>
          <a:xfrm>
            <a:off x="6035040" y="22677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 txBox="1"/>
          <p:nvPr/>
        </p:nvSpPr>
        <p:spPr>
          <a:xfrm>
            <a:off x="60350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130552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+ 1 765 photos de terrain PlantWild à l'entraînement</a:t>
            </a:r>
            <a:endParaRPr lang="en-US" sz="1400" dirty="0"/>
          </a:p>
        </p:txBody>
      </p:sp>
      <p:sp>
        <p:nvSpPr>
          <p:cNvPr id="14" name="défaut 2"/>
          <p:cNvSpPr/>
          <p:nvPr/>
        </p:nvSpPr>
        <p:spPr>
          <a:xfrm>
            <a:off x="548640" y="2898648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749808" y="289864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Sensible aux conditions de prise de vue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2120" y="3227832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7" name="correction 2"/>
          <p:cNvSpPr/>
          <p:nvPr/>
        </p:nvSpPr>
        <p:spPr>
          <a:xfrm>
            <a:off x="5897880" y="2898648"/>
            <a:ext cx="57150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pastille 2"/>
          <p:cNvSpPr/>
          <p:nvPr/>
        </p:nvSpPr>
        <p:spPr>
          <a:xfrm>
            <a:off x="6035040" y="30358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 txBox="1"/>
          <p:nvPr/>
        </p:nvSpPr>
        <p:spPr>
          <a:xfrm>
            <a:off x="603504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89864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Augmentation étendue : teinte, saturation, occlusions, flou</a:t>
            </a:r>
            <a:endParaRPr lang="en-US" sz="1400" dirty="0"/>
          </a:p>
        </p:txBody>
      </p:sp>
      <p:sp>
        <p:nvSpPr>
          <p:cNvPr id="21" name="défaut 3"/>
          <p:cNvSpPr/>
          <p:nvPr/>
        </p:nvSpPr>
        <p:spPr>
          <a:xfrm>
            <a:off x="548640" y="3666744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 txBox="1"/>
          <p:nvPr/>
        </p:nvSpPr>
        <p:spPr>
          <a:xfrm>
            <a:off x="749808" y="366674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Représentations restées trop « studio 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3995928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4" name="correction 3"/>
          <p:cNvSpPr/>
          <p:nvPr/>
        </p:nvSpPr>
        <p:spPr>
          <a:xfrm>
            <a:off x="5897880" y="3666744"/>
            <a:ext cx="57150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pastille 3"/>
          <p:cNvSpPr/>
          <p:nvPr/>
        </p:nvSpPr>
        <p:spPr>
          <a:xfrm>
            <a:off x="6035040" y="38039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0350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666744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80 couches réapprises sur 154, au lieu de 40</a:t>
            </a:r>
            <a:endParaRPr lang="en-US" sz="1400" dirty="0"/>
          </a:p>
        </p:txBody>
      </p:sp>
      <p:sp>
        <p:nvSpPr>
          <p:cNvPr id="28" name="défaut 4"/>
          <p:cNvSpPr/>
          <p:nvPr/>
        </p:nvSpPr>
        <p:spPr>
          <a:xfrm>
            <a:off x="548640" y="4434840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 txBox="1"/>
          <p:nvPr/>
        </p:nvSpPr>
        <p:spPr>
          <a:xfrm>
            <a:off x="749808" y="44348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Surconfiance : 80,9 % de confiance pour 35,7 % de justes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532120" y="4764024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1" name="correction 4"/>
          <p:cNvSpPr/>
          <p:nvPr/>
        </p:nvSpPr>
        <p:spPr>
          <a:xfrm>
            <a:off x="5897880" y="4434840"/>
            <a:ext cx="57150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pastille 4"/>
          <p:cNvSpPr/>
          <p:nvPr/>
        </p:nvSpPr>
        <p:spPr>
          <a:xfrm>
            <a:off x="6035040" y="4572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 txBox="1"/>
          <p:nvPr/>
        </p:nvSpPr>
        <p:spPr>
          <a:xfrm>
            <a:off x="60350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0" y="443484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Lissage des étiquettes (0,1) et mélange d'images (mixup)</a:t>
            </a:r>
            <a:endParaRPr lang="en-US" sz="1400" dirty="0"/>
          </a:p>
        </p:txBody>
      </p:sp>
      <p:sp>
        <p:nvSpPr>
          <p:cNvPr id="35" name="défaut 5"/>
          <p:cNvSpPr/>
          <p:nvPr/>
        </p:nvSpPr>
        <p:spPr>
          <a:xfrm>
            <a:off x="548640" y="5202936"/>
            <a:ext cx="4937760" cy="658368"/>
          </a:xfrm>
          <a:prstGeom prst="roundRect">
            <a:avLst>
              <a:gd name="adj" fmla="val 13889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 txBox="1"/>
          <p:nvPr/>
        </p:nvSpPr>
        <p:spPr>
          <a:xfrm>
            <a:off x="749808" y="520293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petite lésion se dilue dans la moyenne de l'image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532120" y="553212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38" name="correction 5"/>
          <p:cNvSpPr/>
          <p:nvPr/>
        </p:nvSpPr>
        <p:spPr>
          <a:xfrm>
            <a:off x="5897880" y="5202936"/>
            <a:ext cx="571500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pastille 5"/>
          <p:cNvSpPr/>
          <p:nvPr/>
        </p:nvSpPr>
        <p:spPr>
          <a:xfrm>
            <a:off x="6035040" y="53400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 txBox="1"/>
          <p:nvPr/>
        </p:nvSpPr>
        <p:spPr>
          <a:xfrm>
            <a:off x="603504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202936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Agrégation par la moyenne et par le maximum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Architecture, classes et format de réponse inchangés : l'API du lot A sert la v2 sans aucune modification.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RÉSULTATS  ·  VERSION 2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Au champ, la v2 progresse sur 8 classes sur 9</a:t>
            </a:r>
            <a:endParaRPr lang="en-US" sz="3000" dirty="0"/>
          </a:p>
        </p:txBody>
      </p:sp>
      <p:graphicFrame>
        <p:nvGraphicFramePr>
          <p:cNvPr id="5" name="graphique F1 terrain v1 v2"/>
          <p:cNvGraphicFramePr/>
          <p:nvPr/>
        </p:nvGraphicFramePr>
        <p:xfrm>
          <a:off x="457200" y="1783080"/>
          <a:ext cx="7406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3816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EXACTITUDE AU CHAMP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12140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32" b="1" dirty="0">
                <a:solidFill>
                  <a:schemeClr val="accent3"/>
                </a:solidFill>
              </a:rPr>
              <a:t>36,3 %</a:t>
            </a:r>
            <a:r>
              <a:rPr lang="en-US" sz="1800" dirty="0">
                <a:solidFill>
                  <a:schemeClr val="accent3"/>
                </a:solidFill>
              </a:rPr>
              <a:t>  →  </a:t>
            </a:r>
            <a:r>
              <a:rPr lang="en-US" sz="3600" b="1" dirty="0">
                <a:solidFill>
                  <a:schemeClr val="accent1"/>
                </a:solidFill>
              </a:rPr>
              <a:t>49,0 %</a:t>
            </a:r>
            <a:endParaRPr lang="en-US" sz="2232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F1 MACRO AU CHAMP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17296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32" b="1" dirty="0">
                <a:solidFill>
                  <a:schemeClr val="accent3"/>
                </a:solidFill>
              </a:rPr>
              <a:t>0,267</a:t>
            </a:r>
            <a:r>
              <a:rPr lang="en-US" sz="1800" dirty="0">
                <a:solidFill>
                  <a:schemeClr val="accent3"/>
                </a:solidFill>
              </a:rPr>
              <a:t>  →  </a:t>
            </a:r>
            <a:r>
              <a:rPr lang="en-US" sz="3600" b="1" dirty="0">
                <a:solidFill>
                  <a:schemeClr val="accent1"/>
                </a:solidFill>
              </a:rPr>
              <a:t>0,452</a:t>
            </a:r>
            <a:endParaRPr lang="en-US" sz="2232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EXACTITUDE EN STUDIO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2245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32" b="1" dirty="0">
                <a:solidFill>
                  <a:schemeClr val="accent3"/>
                </a:solidFill>
              </a:rPr>
              <a:t>96,6 %</a:t>
            </a:r>
            <a:r>
              <a:rPr lang="en-US" sz="1800" dirty="0">
                <a:solidFill>
                  <a:schemeClr val="accent3"/>
                </a:solidFill>
              </a:rPr>
              <a:t>  →  </a:t>
            </a:r>
            <a:r>
              <a:rPr lang="en-US" sz="3600" b="1" dirty="0">
                <a:solidFill>
                  <a:schemeClr val="accent5"/>
                </a:solidFill>
              </a:rPr>
              <a:t>94,4 %</a:t>
            </a:r>
            <a:endParaRPr lang="en-US" sz="2232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5029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Le prix : 2,3 points perdus en studio. </a:t>
            </a:r>
            <a:r>
              <a:rPr lang="en-US" sz="1200" dirty="0">
                <a:solidFill>
                  <a:schemeClr val="tx1"/>
                </a:solidFill>
              </a:rPr>
              <a:t>Seule la septoriose recule (0,471 → 0,403), et une partie de ses images de test semble mal étiquetée.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58978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Chaîne du notebook, identique pour v1 et v2. Mesuré par le service lui-même : v1 35,7 %, v2 49,5 %.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RÉSULTATS  ·  CONFIANCE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La confiance redevient un signal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CONFIANCE MOYENNE AU CHAMP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v1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1945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 juste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249424"/>
            <a:ext cx="4206240" cy="274320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286000" y="2249424"/>
            <a:ext cx="3550067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 txBox="1"/>
          <p:nvPr/>
        </p:nvSpPr>
        <p:spPr>
          <a:xfrm>
            <a:off x="6583680" y="2194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84,4 %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97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 faux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2752344"/>
            <a:ext cx="4206240" cy="274320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286000" y="2752344"/>
            <a:ext cx="3251424" cy="2743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 txBox="1"/>
          <p:nvPr/>
        </p:nvSpPr>
        <p:spPr>
          <a:xfrm>
            <a:off x="6583680" y="2697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77,3 %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46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points d'écart : impossible de distinguer un bon diagnostic d'un mauvais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v2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14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 juste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0" y="4169664"/>
            <a:ext cx="4206240" cy="274320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286000" y="4169664"/>
            <a:ext cx="2140976" cy="2743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 txBox="1"/>
          <p:nvPr/>
        </p:nvSpPr>
        <p:spPr>
          <a:xfrm>
            <a:off x="6583680" y="4114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50,9 %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6177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 faux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0" y="4672584"/>
            <a:ext cx="4206240" cy="274320"/>
          </a:xfrm>
          <a:prstGeom prst="rect">
            <a:avLst/>
          </a:prstGeom>
          <a:solidFill>
            <a:srgbClr val="EEF0E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286000" y="4672584"/>
            <a:ext cx="1695115" cy="2743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 txBox="1"/>
          <p:nvPr/>
        </p:nvSpPr>
        <p:spPr>
          <a:xfrm>
            <a:off x="6583680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40,3 %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51663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plus de 10 points d'écart : la confiance devient exploitable</a:t>
            </a:r>
            <a:endParaRPr lang="en-US" sz="1400" dirty="0"/>
          </a:p>
        </p:txBody>
      </p:sp>
      <p:sp>
        <p:nvSpPr>
          <p:cNvPr id="26" name="le seuil"/>
          <p:cNvSpPr/>
          <p:nvPr/>
        </p:nvSpPr>
        <p:spPr>
          <a:xfrm>
            <a:off x="8001000" y="1783080"/>
            <a:ext cx="3611880" cy="443484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 txBox="1"/>
          <p:nvPr/>
        </p:nvSpPr>
        <p:spPr>
          <a:xfrm>
            <a:off x="8229600" y="1965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LE SEUIL D'AVERTISSEMENT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70 %</a:t>
            </a:r>
            <a:r>
              <a:rPr lang="en-US" sz="2000" dirty="0">
                <a:solidFill>
                  <a:schemeClr val="accent3"/>
                </a:solidFill>
              </a:rPr>
              <a:t>  →  </a:t>
            </a:r>
            <a:r>
              <a:rPr lang="en-US" sz="4000" b="1" dirty="0">
                <a:solidFill>
                  <a:schemeClr val="accent1"/>
                </a:solidFill>
              </a:rPr>
              <a:t>60 %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3154680"/>
            <a:ext cx="32004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 lissage des étiquettes abaisse toutes les probabilités, même quand la réponse est juste.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Resté à 70 %, le seuil aurait signalé comme douteux des diagnostics corrects.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 comparaison des seuils n'est pas dans le dépôt : seule la valeur 60 % y figure.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CE QUE VOIT L'UTILISATEUR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Quand l'appli affirme, elle a raison 72 % du temps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FIABILITÉ QUAND L'APPLICATION AFFIRME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75688"/>
            <a:ext cx="603504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accent3"/>
                </a:solidFill>
              </a:rPr>
              <a:t>40,0 %</a:t>
            </a:r>
            <a:r>
              <a:rPr lang="en-US" sz="2500" dirty="0">
                <a:solidFill>
                  <a:schemeClr val="accent3"/>
                </a:solidFill>
              </a:rPr>
              <a:t>  →  </a:t>
            </a:r>
            <a:r>
              <a:rPr lang="en-US" sz="5000" b="1" dirty="0">
                <a:solidFill>
                  <a:schemeClr val="accent1"/>
                </a:solidFill>
              </a:rPr>
              <a:t>72,3 %</a:t>
            </a:r>
            <a:endParaRPr lang="en-US" sz="3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6"/>
                </a:solidFill>
              </a:rPr>
              <a:t>DIAGNOSTICS FAUX AFFIRMÉS SANS AVERTISSEMENT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5848"/>
            <a:ext cx="603504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chemeClr val="accent3"/>
                </a:solidFill>
              </a:rPr>
              <a:t>403</a:t>
            </a:r>
            <a:r>
              <a:rPr lang="en-US" sz="2500" dirty="0">
                <a:solidFill>
                  <a:schemeClr val="accent3"/>
                </a:solidFill>
              </a:rPr>
              <a:t>  →  </a:t>
            </a:r>
            <a:r>
              <a:rPr lang="en-US" sz="5000" b="1" dirty="0">
                <a:solidFill>
                  <a:schemeClr val="accent1"/>
                </a:solidFill>
              </a:rPr>
              <a:t>61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v1 au seuil de 70 %, v2 au seuil de 60 %, sur les mêmes 942 photos de terrain</a:t>
            </a:r>
            <a:endParaRPr lang="en-US" sz="1100" dirty="0"/>
          </a:p>
        </p:txBody>
      </p:sp>
      <p:sp>
        <p:nvSpPr>
          <p:cNvPr id="10" name="coût des erreurs"/>
          <p:cNvSpPr/>
          <p:nvPr/>
        </p:nvSpPr>
        <p:spPr>
          <a:xfrm>
            <a:off x="548640" y="4663440"/>
            <a:ext cx="6035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777240" y="4800600"/>
            <a:ext cx="5623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 v2 se prononce trois fois moins souvent (220 contre 672)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erreur signalée renvoie vers un conseiller : c'est une occasion manquée. Une erreur affirmée fait traiter une culture pour rien.</a:t>
            </a:r>
            <a:endParaRPr lang="en-US" sz="1400" dirty="0"/>
          </a:p>
        </p:txBody>
      </p:sp>
      <p:pic>
        <p:nvPicPr>
          <p:cNvPr id="12" name="capture app_terrain_alerte" descr="tomate saine au champ : l'application avert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4663440" cy="3639312"/>
          </a:xfrm>
          <a:prstGeom prst="rect">
            <a:avLst/>
          </a:prstGeom>
        </p:spPr>
      </p:pic>
      <p:sp>
        <p:nvSpPr>
          <p:cNvPr id="13" name="cadre app_terrain_alerte"/>
          <p:cNvSpPr/>
          <p:nvPr/>
        </p:nvSpPr>
        <p:spPr>
          <a:xfrm>
            <a:off x="6949440" y="1783080"/>
            <a:ext cx="4663440" cy="3639312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6949440" y="5532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Une tomate saine photographiée au champ : la v2 hésite entre deux hypothèses, et le dit.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INTERPRÉTABILITÉ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Le modèle regarde les lésions, pas le fond</a:t>
            </a:r>
            <a:endParaRPr lang="en-US" sz="3000" dirty="0"/>
          </a:p>
        </p:txBody>
      </p:sp>
      <p:pic>
        <p:nvPicPr>
          <p:cNvPr id="5" name="photo gc1_photo" descr="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2011680" cy="2011680"/>
          </a:xfrm>
          <a:prstGeom prst="rect">
            <a:avLst/>
          </a:prstGeom>
        </p:spPr>
      </p:pic>
      <p:pic>
        <p:nvPicPr>
          <p:cNvPr id="6" name="photo gc1_carte" descr="carte Grad-C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828800"/>
            <a:ext cx="2011680" cy="20116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937760" y="192024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Studio  ·  tomate saine, 96 %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 chaleur épouse la feuille et s'arrête à ses bords. Le fond gris reste entièrement bleu.</a:t>
            </a:r>
            <a:endParaRPr lang="en-US" sz="1500" dirty="0"/>
          </a:p>
        </p:txBody>
      </p:sp>
      <p:pic>
        <p:nvPicPr>
          <p:cNvPr id="8" name="photo gc3_photo" descr="pho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96" y="4069080"/>
            <a:ext cx="1391968" cy="2011680"/>
          </a:xfrm>
          <a:prstGeom prst="rect">
            <a:avLst/>
          </a:prstGeom>
        </p:spPr>
      </p:pic>
      <p:pic>
        <p:nvPicPr>
          <p:cNvPr id="9" name="photo gc3_carte" descr="carte Grad-C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4069080"/>
            <a:ext cx="2011680" cy="20116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937760" y="416052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Terrain  ·  une « erreur » à 88 %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 carte se pose sur les taches. L'image porte la mention Xanthomonas, agent de la tache bactérienne : c'est l'étiquette du corpus qui était fausse.</a:t>
            </a:r>
            <a:endParaRPr lang="en-US" sz="1500" dirty="0"/>
          </a:p>
        </p:txBody>
      </p:sp>
      <p:sp>
        <p:nvSpPr>
          <p:cNvPr id="11" name="lire la carte"/>
          <p:cNvSpPr/>
          <p:nvPr/>
        </p:nvSpPr>
        <p:spPr>
          <a:xfrm>
            <a:off x="7955280" y="1828800"/>
            <a:ext cx="3657600" cy="42519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6"/>
          <p:cNvSpPr txBox="1"/>
          <p:nvPr/>
        </p:nvSpPr>
        <p:spPr>
          <a:xfrm>
            <a:off x="818388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LIRE LA CARTE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8183880" y="2377440"/>
            <a:ext cx="32461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Rouge : ce qui a emporté la décision. Bleu : ce qui n'a presque pas compté.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Toute la feuille est examinée : la couleur ne montre pas la zone analysée.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 les 4 cas étudiés, la chaleur se pose sur la feuille, jamais sur le fond.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Portée limitée : 4 images ne font pas une preuve statistique.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L'application rend le doute visible</a:t>
            </a:r>
            <a:endParaRPr lang="en-US" sz="3000" dirty="0"/>
          </a:p>
        </p:txBody>
      </p:sp>
      <p:pic>
        <p:nvPicPr>
          <p:cNvPr id="5" name="capture app_incertain" descr="diagnostic incertain : deux hypothèses proch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120640" cy="3995928"/>
          </a:xfrm>
          <a:prstGeom prst="rect">
            <a:avLst/>
          </a:prstGeom>
        </p:spPr>
      </p:pic>
      <p:sp>
        <p:nvSpPr>
          <p:cNvPr id="6" name="cadre app_incertain"/>
          <p:cNvSpPr/>
          <p:nvPr/>
        </p:nvSpPr>
        <p:spPr>
          <a:xfrm>
            <a:off x="548640" y="1783080"/>
            <a:ext cx="5120640" cy="3995928"/>
          </a:xfrm>
          <a:prstGeom prst="rect">
            <a:avLst/>
          </a:prstGeom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 txBox="1"/>
          <p:nvPr/>
        </p:nvSpPr>
        <p:spPr>
          <a:xfrm>
            <a:off x="548640" y="5852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Tache bactérienne à 51 %, septoriose à 34 % : l'application ne tranche pas à la place de l'utilisateur.</a:t>
            </a:r>
            <a:endParaRPr lang="en-US" sz="1200" dirty="0"/>
          </a:p>
        </p:txBody>
      </p:sp>
      <p:sp>
        <p:nvSpPr>
          <p:cNvPr id="8" name="pastille 1"/>
          <p:cNvSpPr/>
          <p:nvPr/>
        </p:nvSpPr>
        <p:spPr>
          <a:xfrm>
            <a:off x="6080760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6080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Trois hypothèses classées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avec leur score, jamais une seule réponse sèche</a:t>
            </a:r>
            <a:endParaRPr lang="en-US" sz="1500" dirty="0"/>
          </a:p>
        </p:txBody>
      </p:sp>
      <p:sp>
        <p:nvSpPr>
          <p:cNvPr id="11" name="pastille 2"/>
          <p:cNvSpPr/>
          <p:nvPr/>
        </p:nvSpPr>
        <p:spPr>
          <a:xfrm>
            <a:off x="6080760" y="27157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608076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2670048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 avertissement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si les deux premières sont à moins de 20 points, ou si la confiance passe sous 60 %</a:t>
            </a:r>
            <a:endParaRPr lang="en-US" sz="1500" dirty="0"/>
          </a:p>
        </p:txBody>
      </p:sp>
      <p:sp>
        <p:nvSpPr>
          <p:cNvPr id="14" name="pastille 3"/>
          <p:cNvSpPr/>
          <p:nvPr/>
        </p:nvSpPr>
        <p:spPr>
          <a:xfrm>
            <a:off x="6080760" y="36027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60807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557016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 onglets pour départager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les deux maladies, avec les critères à observer à l'œil</a:t>
            </a:r>
            <a:endParaRPr lang="en-US" sz="1500" dirty="0"/>
          </a:p>
        </p:txBody>
      </p:sp>
      <p:sp>
        <p:nvSpPr>
          <p:cNvPr id="17" name="pastille 4"/>
          <p:cNvSpPr/>
          <p:nvPr/>
        </p:nvSpPr>
        <p:spPr>
          <a:xfrm>
            <a:off x="6080760" y="4489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608076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44439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Une carte expliquée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toute la feuille est examinée, la couleur montre ce qui a pesé</a:t>
            </a:r>
            <a:endParaRPr lang="en-US" sz="1500" dirty="0"/>
          </a:p>
        </p:txBody>
      </p:sp>
      <p:sp>
        <p:nvSpPr>
          <p:cNvPr id="20" name="pastille 5"/>
          <p:cNvSpPr/>
          <p:nvPr/>
        </p:nvSpPr>
        <p:spPr>
          <a:xfrm>
            <a:off x="6080760" y="53766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 txBox="1"/>
          <p:nvPr/>
        </p:nvSpPr>
        <p:spPr>
          <a:xfrm>
            <a:off x="6080760" y="5376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53309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Des conseils, pas une ordonnance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la fiche rappelle qu'elle ne remplace pas un conseiller agricole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822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2"/>
                </a:solidFill>
              </a:rPr>
              <a:t>DÉMONSTRATION EN DIRECT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132320" y="228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Faustin Félicien Pikbougoum  ·  Lot B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 la photo au diagnostic, en direct</a:t>
            </a:r>
            <a:endParaRPr lang="en-US" sz="4000" dirty="0"/>
          </a:p>
        </p:txBody>
      </p:sp>
      <p:sp>
        <p:nvSpPr>
          <p:cNvPr id="5" name="étape démo 1"/>
          <p:cNvSpPr/>
          <p:nvPr/>
        </p:nvSpPr>
        <p:spPr>
          <a:xfrm>
            <a:off x="731520" y="274320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stille 1"/>
          <p:cNvSpPr/>
          <p:nvPr/>
        </p:nvSpPr>
        <p:spPr>
          <a:xfrm>
            <a:off x="960120" y="29718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Une photo de studio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diagnostic sûr, carte posée sur la feuille</a:t>
            </a:r>
            <a:endParaRPr lang="en-US" sz="1900" dirty="0"/>
          </a:p>
        </p:txBody>
      </p:sp>
      <p:sp>
        <p:nvSpPr>
          <p:cNvPr id="9" name="étape démo 2"/>
          <p:cNvSpPr/>
          <p:nvPr/>
        </p:nvSpPr>
        <p:spPr>
          <a:xfrm>
            <a:off x="4389120" y="274320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astille 2"/>
          <p:cNvSpPr/>
          <p:nvPr/>
        </p:nvSpPr>
        <p:spPr>
          <a:xfrm>
            <a:off x="4617720" y="29718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6177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Une photo prise au champ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l'application hésite, et le dit</a:t>
            </a:r>
            <a:endParaRPr lang="en-US" sz="1900" dirty="0"/>
          </a:p>
        </p:txBody>
      </p:sp>
      <p:sp>
        <p:nvSpPr>
          <p:cNvPr id="13" name="étape démo 3"/>
          <p:cNvSpPr/>
          <p:nvPr/>
        </p:nvSpPr>
        <p:spPr>
          <a:xfrm>
            <a:off x="8046720" y="2743200"/>
            <a:ext cx="3383280" cy="2103120"/>
          </a:xfrm>
          <a:prstGeom prst="roundRect">
            <a:avLst>
              <a:gd name="adj" fmla="val 6087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pastille 3"/>
          <p:cNvSpPr/>
          <p:nvPr/>
        </p:nvSpPr>
        <p:spPr>
          <a:xfrm>
            <a:off x="8275320" y="29718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27532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657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La lecture du résultat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carte des zones décisives et fiche de conseils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Plan B : la même démonstration, enregistrée en vidéo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265176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LIMITES  ·  PERSPECTIVES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Oumar Doumbia  ·  Lot 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Ce qui reste à faire avant un usage réel au champ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LIMITE MESURÉE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PISTE POUR LA SUITE</a:t>
            </a:r>
            <a:endParaRPr lang="en-US" sz="1200" dirty="0"/>
          </a:p>
        </p:txBody>
      </p:sp>
      <p:sp>
        <p:nvSpPr>
          <p:cNvPr id="7" name="limite 1"/>
          <p:cNvSpPr/>
          <p:nvPr/>
        </p:nvSpPr>
        <p:spPr>
          <a:xfrm>
            <a:off x="548640" y="2148840"/>
            <a:ext cx="493776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 txBox="1"/>
          <p:nvPr/>
        </p:nvSpPr>
        <p:spPr>
          <a:xfrm>
            <a:off x="749808" y="2148840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 champ, la v2 se trompe encore une fois sur deux (49,5 % de justes)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32120" y="2532888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0" name="piste 1"/>
          <p:cNvSpPr/>
          <p:nvPr/>
        </p:nvSpPr>
        <p:spPr>
          <a:xfrm>
            <a:off x="5897880" y="2148840"/>
            <a:ext cx="5715000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6099048" y="2148840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Collecter des photos dans des exploitations sénégalaises, étiquetées par un conseiller agricole</a:t>
            </a:r>
            <a:endParaRPr lang="en-US" sz="1400" dirty="0"/>
          </a:p>
        </p:txBody>
      </p:sp>
      <p:sp>
        <p:nvSpPr>
          <p:cNvPr id="12" name="limite 2"/>
          <p:cNvSpPr/>
          <p:nvPr/>
        </p:nvSpPr>
        <p:spPr>
          <a:xfrm>
            <a:off x="548640" y="3044952"/>
            <a:ext cx="493776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 txBox="1"/>
          <p:nvPr/>
        </p:nvSpPr>
        <p:spPr>
          <a:xfrm>
            <a:off x="749808" y="3044952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 seul corpus de test terrain, dont certaines étiquettes sont fausses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32120" y="3429000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15" name="piste 2"/>
          <p:cNvSpPr/>
          <p:nvPr/>
        </p:nvSpPr>
        <p:spPr>
          <a:xfrm>
            <a:off x="5897880" y="3044952"/>
            <a:ext cx="5715000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 txBox="1"/>
          <p:nvPr/>
        </p:nvSpPr>
        <p:spPr>
          <a:xfrm>
            <a:off x="6099048" y="3044952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Relire les étiquettes de PlantDoc pour une mesure plus juste, sans réentraîner</a:t>
            </a:r>
            <a:endParaRPr lang="en-US" sz="1400" dirty="0"/>
          </a:p>
        </p:txBody>
      </p:sp>
      <p:sp>
        <p:nvSpPr>
          <p:cNvPr id="17" name="limite 3"/>
          <p:cNvSpPr/>
          <p:nvPr/>
        </p:nvSpPr>
        <p:spPr>
          <a:xfrm>
            <a:off x="548640" y="3941064"/>
            <a:ext cx="493776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 txBox="1"/>
          <p:nvPr/>
        </p:nvSpPr>
        <p:spPr>
          <a:xfrm>
            <a:off x="749808" y="3941064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plante inconnue reçoit quand même un diagnostic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32120" y="4325112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0" name="piste 3"/>
          <p:cNvSpPr/>
          <p:nvPr/>
        </p:nvSpPr>
        <p:spPr>
          <a:xfrm>
            <a:off x="5897880" y="3941064"/>
            <a:ext cx="5715000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 txBox="1"/>
          <p:nvPr/>
        </p:nvSpPr>
        <p:spPr>
          <a:xfrm>
            <a:off x="6099048" y="3941064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Un mécanisme de rejet : « je ne connais pas cette plante »</a:t>
            </a:r>
            <a:endParaRPr lang="en-US" sz="1400" dirty="0"/>
          </a:p>
        </p:txBody>
      </p:sp>
      <p:sp>
        <p:nvSpPr>
          <p:cNvPr id="22" name="limite 4"/>
          <p:cNvSpPr/>
          <p:nvPr/>
        </p:nvSpPr>
        <p:spPr>
          <a:xfrm>
            <a:off x="548640" y="4837176"/>
            <a:ext cx="493776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 txBox="1"/>
          <p:nvPr/>
        </p:nvSpPr>
        <p:spPr>
          <a:xfrm>
            <a:off x="749808" y="4837176"/>
            <a:ext cx="4572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Il faut une connexion pour joindre le service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32120" y="5221224"/>
            <a:ext cx="30175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fr-FR"/>
          </a:p>
        </p:txBody>
      </p:sp>
      <p:sp>
        <p:nvSpPr>
          <p:cNvPr id="25" name="piste 4"/>
          <p:cNvSpPr/>
          <p:nvPr/>
        </p:nvSpPr>
        <p:spPr>
          <a:xfrm>
            <a:off x="5897880" y="4837176"/>
            <a:ext cx="5715000" cy="768096"/>
          </a:xfrm>
          <a:prstGeom prst="roundRect">
            <a:avLst>
              <a:gd name="adj" fmla="val 1190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 txBox="1"/>
          <p:nvPr/>
        </p:nvSpPr>
        <p:spPr>
          <a:xfrm>
            <a:off x="6099048" y="4837176"/>
            <a:ext cx="5349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Convertir le modèle en TensorFlow Lite, pour un diagnostic sur le téléphone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Autres limites : 3 cultures seulement  ·  avertissement jamais testé auprès d'agriculteurs  ·  licence PlantWild non commerciale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822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2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7132320" y="228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Cheick et Faustin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Trois choses à retenir</a:t>
            </a:r>
            <a:endParaRPr lang="en-US" sz="4000" dirty="0"/>
          </a:p>
        </p:txBody>
      </p:sp>
      <p:sp>
        <p:nvSpPr>
          <p:cNvPr id="5" name="à retenir 1"/>
          <p:cNvSpPr/>
          <p:nvPr/>
        </p:nvSpPr>
        <p:spPr>
          <a:xfrm>
            <a:off x="731520" y="2514600"/>
            <a:ext cx="3383280" cy="2377440"/>
          </a:xfrm>
          <a:prstGeom prst="roundRect">
            <a:avLst>
              <a:gd name="adj" fmla="val 5385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stille 1"/>
          <p:cNvSpPr/>
          <p:nvPr/>
        </p:nvSpPr>
        <p:spPr>
          <a:xfrm>
            <a:off x="960120" y="27432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Une plateforme complète et testée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Corpus, API, modèle et application : 30 tests, deux versions du modèle conservées.</a:t>
            </a:r>
            <a:endParaRPr lang="en-US" sz="1900" dirty="0"/>
          </a:p>
        </p:txBody>
      </p:sp>
      <p:sp>
        <p:nvSpPr>
          <p:cNvPr id="9" name="à retenir 2"/>
          <p:cNvSpPr/>
          <p:nvPr/>
        </p:nvSpPr>
        <p:spPr>
          <a:xfrm>
            <a:off x="4389120" y="2514600"/>
            <a:ext cx="3383280" cy="2377440"/>
          </a:xfrm>
          <a:prstGeom prst="roundRect">
            <a:avLst>
              <a:gd name="adj" fmla="val 5385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pastille 2"/>
          <p:cNvSpPr/>
          <p:nvPr/>
        </p:nvSpPr>
        <p:spPr>
          <a:xfrm>
            <a:off x="4617720" y="27432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 txBox="1"/>
          <p:nvPr/>
        </p:nvSpPr>
        <p:spPr>
          <a:xfrm>
            <a:off x="46177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Une mesure qui a tout changé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96,6 % en studio, 35,7 % au champ : seule une source indépendante l'a révélé.</a:t>
            </a:r>
            <a:endParaRPr lang="en-US" sz="1900" dirty="0"/>
          </a:p>
        </p:txBody>
      </p:sp>
      <p:sp>
        <p:nvSpPr>
          <p:cNvPr id="13" name="à retenir 3"/>
          <p:cNvSpPr/>
          <p:nvPr/>
        </p:nvSpPr>
        <p:spPr>
          <a:xfrm>
            <a:off x="8046720" y="2514600"/>
            <a:ext cx="3383280" cy="2377440"/>
          </a:xfrm>
          <a:prstGeom prst="roundRect">
            <a:avLst>
              <a:gd name="adj" fmla="val 5385"/>
            </a:avLst>
          </a:prstGeom>
          <a:solidFill>
            <a:srgbClr val="2A5C41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pastille 3"/>
          <p:cNvSpPr/>
          <p:nvPr/>
        </p:nvSpPr>
        <p:spPr>
          <a:xfrm>
            <a:off x="8275320" y="274320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 txBox="1"/>
          <p:nvPr/>
        </p:nvSpPr>
        <p:spPr>
          <a:xfrm>
            <a:off x="827532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4290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Un outil qui sait douter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</a:rPr>
              <a:t>Diagnostics faux affirmés sans avertissement : de 403 à 61.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chemeClr val="bg1"/>
                </a:solidFill>
              </a:rPr>
              <a:t>« L'apport principal n'est pas le modèle, c'est la mesure qui en révèle les limites. »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Merci de votre attention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265176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RÉSERVE  ·  STUDIO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Réserve  ·  questions du jury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Matrice de confusion du v1 sur le test studio</a:t>
            </a:r>
            <a:endParaRPr lang="en-US" sz="3000" dirty="0"/>
          </a:p>
        </p:txBody>
      </p:sp>
      <p:pic>
        <p:nvPicPr>
          <p:cNvPr id="5" name="matrice_confusion.png" descr="Matrice de confusion du v1 sur le test stu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373" y="1783080"/>
            <a:ext cx="4862773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Les erreurs se concentrent entre helminthosporiose et cercosporiose du maïs (2 056 photos de test).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RÉSERVE  ·  ENTRAÎNEMENT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Réserve  ·  questions du jury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Courbes d'apprentissage du v1</a:t>
            </a:r>
            <a:endParaRPr lang="en-US" sz="3000" dirty="0"/>
          </a:p>
        </p:txBody>
      </p:sp>
      <p:pic>
        <p:nvPicPr>
          <p:cNvPr id="5" name="courbes_apprentissage.png" descr="Courbes d'apprentissage du v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64240" cy="37509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671217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Transfert puis affinage, avec arrêt anticipé quand l'exactitude de validation cesse de progresser.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RÉSERVE  ·  TERRAIN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Réserve  ·  questions du jury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Matrice de confusion de la v2 au champ</a:t>
            </a:r>
            <a:endParaRPr lang="en-US" sz="3000" dirty="0"/>
          </a:p>
        </p:txBody>
      </p:sp>
      <p:pic>
        <p:nvPicPr>
          <p:cNvPr id="5" name="confusion_terrain_v2.png" descr="Matrice de confusion de la v2 au cha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451" y="1783080"/>
            <a:ext cx="5196618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« Maïs · Sain » est absent de PlantDoc : cette classe n'a pas pu être évaluée au champ.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0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chemeClr val="bg1"/>
                </a:solidFill>
              </a:rPr>
              <a:t>RÉSERVE  ·  TECHNIQUE</a:t>
            </a:r>
            <a:endParaRPr lang="en-US" sz="1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132320" y="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2"/>
                </a:solidFill>
              </a:rPr>
              <a:t>Réserve  ·  questions du jury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Choix techniques et garde-fous</a:t>
            </a:r>
            <a:endParaRPr lang="en-US" sz="3000" dirty="0"/>
          </a:p>
        </p:txBody>
      </p:sp>
      <p:graphicFrame>
        <p:nvGraphicFramePr>
          <p:cNvPr id="26" name="tableau techniqu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395020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Modèle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TensorFlow 2.21, MobileNetV2, Grad-CAM sur la couche out_relu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Service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FastAPI : validation automatique des entrées, documentation sur /docs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Application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Streamlit : interface en Python, sans HTML ni JavaScript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Déploiement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 conteneurs Docker : Streamlit et TensorFlow exigent deux versions incompatibles de protobuf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Versions du modèle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v1 et v2 conservées ; AGRIVISION_MODELE choisit celle qui est servie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4A3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Tests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1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30 tests : 8 sur la validation des entrées, 22 sur le module d'inférence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155448"/>
            <a:ext cx="54864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Vision">
  <a:themeElements>
    <a:clrScheme name="AgriVision">
      <a:dk1>
        <a:srgbClr val="1B2A21"/>
      </a:dk1>
      <a:lt1>
        <a:srgbClr val="FFFFFF"/>
      </a:lt1>
      <a:dk2>
        <a:srgbClr val="1E4A33"/>
      </a:dk2>
      <a:lt2>
        <a:srgbClr val="EDF3EE"/>
      </a:lt2>
      <a:accent1>
        <a:srgbClr val="2F7D4F"/>
      </a:accent1>
      <a:accent2>
        <a:srgbClr val="A8D5B0"/>
      </a:accent2>
      <a:accent3>
        <a:srgbClr val="9AA59F"/>
      </a:accent3>
      <a:accent4>
        <a:srgbClr val="C0392B"/>
      </a:accent4>
      <a:accent5>
        <a:srgbClr val="D99A1E"/>
      </a:accent5>
      <a:accent6>
        <a:srgbClr val="5E6E64"/>
      </a:accent6>
      <a:hlink>
        <a:srgbClr val="2F7D4F"/>
      </a:hlink>
      <a:folHlink>
        <a:srgbClr val="1E4A33"/>
      </a:folHlink>
    </a:clrScheme>
    <a:fontScheme name="AgriVision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2606</Words>
  <Application>Microsoft Office PowerPoint</Application>
  <PresentationFormat>Grand écran</PresentationFormat>
  <Paragraphs>439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8" baseType="lpstr">
      <vt:lpstr>Arial</vt:lpstr>
      <vt:lpstr>Rubik</vt:lpstr>
      <vt:lpstr>AgriVision</vt:lpstr>
      <vt:lpstr>AgriVision-AI</vt:lpstr>
      <vt:lpstr>Le diagnostic arrive tard, le téléphone est déjà là</vt:lpstr>
      <vt:lpstr>Une photo de feuille, quatre réponses</vt:lpstr>
      <vt:lpstr>Six couches, deux lots, un contrat entre les deux</vt:lpstr>
      <vt:lpstr>10 classes, 13 725 photos, un déséquilibre de 1 à 4</vt:lpstr>
      <vt:lpstr>Trois corpus, trois rôles bien séparés</vt:lpstr>
      <vt:lpstr>Doublons isolés, découpage figé avant tout entraînement</vt:lpstr>
      <vt:lpstr>L'API vérifie l'image et refuse plutôt que d'inventer</vt:lpstr>
      <vt:lpstr>On part d'un réseau qui sait déjà voir</vt:lpstr>
      <vt:lpstr>En studio, 96,6 % de diagnostics justes</vt:lpstr>
      <vt:lpstr>Hors du studio, le modèle tombe de 96 % à 36 %</vt:lpstr>
      <vt:lpstr>Le vrai danger : le v1 se trompe en restant sûr de lui</vt:lpstr>
      <vt:lpstr>La v2 apprend à douter : cinq corrections ciblées</vt:lpstr>
      <vt:lpstr>Au champ, la v2 progresse sur 8 classes sur 9</vt:lpstr>
      <vt:lpstr>La confiance redevient un signal</vt:lpstr>
      <vt:lpstr>Quand l'appli affirme, elle a raison 72 % du temps</vt:lpstr>
      <vt:lpstr>Le modèle regarde les lésions, pas le fond</vt:lpstr>
      <vt:lpstr>L'application rend le doute visible</vt:lpstr>
      <vt:lpstr>De la photo au diagnostic, en direct</vt:lpstr>
      <vt:lpstr>Ce qui reste à faire avant un usage réel au champ</vt:lpstr>
      <vt:lpstr>Trois choses à retenir</vt:lpstr>
      <vt:lpstr>Matrice de confusion du v1 sur le test studio</vt:lpstr>
      <vt:lpstr>Courbes d'apprentissage du v1</vt:lpstr>
      <vt:lpstr>Matrice de confusion de la v2 au champ</vt:lpstr>
      <vt:lpstr>Choix techniques et garde-fous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AgriVision-AI, soutenance</dc:title>
  <dc:subject>PptxGenJS Presentation</dc:subject>
  <dc:creator>Cheick Oumar Doumbia, Faustin Félicien Pikbougoum</dc:creator>
  <cp:lastModifiedBy>Faustin Pikbougoum</cp:lastModifiedBy>
  <cp:revision>3</cp:revision>
  <dcterms:created xsi:type="dcterms:W3CDTF">2026-10-14T17:00:33Z</dcterms:created>
  <dcterms:modified xsi:type="dcterms:W3CDTF">2026-10-14T17:10:53Z</dcterms:modified>
</cp:coreProperties>
</file>